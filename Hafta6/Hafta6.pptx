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Lst>
  <p:notesMasterIdLst>
    <p:notesMasterId r:id="rId7"/>
  </p:notesMasterIdLst>
  <p:handoutMasterIdLst>
    <p:handoutMasterId r:id="rId33"/>
  </p:handoutMasterIdLst>
  <p:sldIdLst>
    <p:sldId id="298" r:id="rId6"/>
    <p:sldId id="299" r:id="rId8"/>
    <p:sldId id="364" r:id="rId9"/>
    <p:sldId id="462" r:id="rId10"/>
    <p:sldId id="564" r:id="rId11"/>
    <p:sldId id="565" r:id="rId12"/>
    <p:sldId id="566" r:id="rId13"/>
    <p:sldId id="567" r:id="rId14"/>
    <p:sldId id="568" r:id="rId15"/>
    <p:sldId id="569" r:id="rId16"/>
    <p:sldId id="570" r:id="rId17"/>
    <p:sldId id="572" r:id="rId18"/>
    <p:sldId id="573" r:id="rId19"/>
    <p:sldId id="574" r:id="rId20"/>
    <p:sldId id="600" r:id="rId21"/>
    <p:sldId id="575" r:id="rId22"/>
    <p:sldId id="576" r:id="rId23"/>
    <p:sldId id="577" r:id="rId24"/>
    <p:sldId id="578" r:id="rId25"/>
    <p:sldId id="579" r:id="rId26"/>
    <p:sldId id="580" r:id="rId27"/>
    <p:sldId id="601" r:id="rId28"/>
    <p:sldId id="581" r:id="rId29"/>
    <p:sldId id="582" r:id="rId30"/>
    <p:sldId id="583" r:id="rId31"/>
    <p:sldId id="584" r:id="rId32"/>
  </p:sldIdLst>
  <p:sldSz cx="1219200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8158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93"/>
    <p:restoredTop sz="94660"/>
  </p:normalViewPr>
  <p:slideViewPr>
    <p:cSldViewPr snapToGrid="0" showGuides="1">
      <p:cViewPr varScale="1">
        <p:scale>
          <a:sx n="82" d="100"/>
          <a:sy n="82" d="100"/>
        </p:scale>
        <p:origin x="720" y="58"/>
      </p:cViewPr>
      <p:guideLst>
        <p:guide orient="horz" pos="2161"/>
        <p:guide pos="3840"/>
      </p:guideLst>
    </p:cSldViewPr>
  </p:slideViewPr>
  <p:notesTextViewPr>
    <p:cViewPr>
      <p:scale>
        <a:sx n="1" d="1"/>
        <a:sy n="1" d="1"/>
      </p:scale>
      <p:origin x="0" y="0"/>
    </p:cViewPr>
  </p:notesTextViewPr>
  <p:sorterViewPr showFormatting="0">
    <p:cViewPr>
      <p:scale>
        <a:sx n="100" d="100"/>
        <a:sy n="100" d="100"/>
      </p:scale>
      <p:origin x="0" y="-735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7D76233-2C52-45E9-94E8-FBDCAFC81AF1}" type="doc">
      <dgm:prSet loTypeId="cycle" loCatId="cycle" qsTypeId="urn:microsoft.com/office/officeart/2005/8/quickstyle/simple1#1" qsCatId="simple" csTypeId="urn:microsoft.com/office/officeart/2005/8/colors/accent1_2#1" csCatId="accent1" phldr="1"/>
      <dgm:spPr/>
      <dgm:t>
        <a:bodyPr/>
        <a:lstStyle/>
        <a:p>
          <a:endParaRPr lang="en-US"/>
        </a:p>
      </dgm:t>
    </dgm:pt>
    <dgm:pt modelId="{8E2A460B-45D3-4E20-A31D-4AFE676F0DDA}">
      <dgm:prSet phldrT="[Text]" phldr="0" custT="0"/>
      <dgm:spPr/>
      <dgm:t>
        <a:bodyPr vert="horz" wrap="square"/>
        <a:lstStyle/>
        <a:p>
          <a:pPr>
            <a:lnSpc>
              <a:spcPct val="100000"/>
            </a:lnSpc>
            <a:spcBef>
              <a:spcPct val="0"/>
            </a:spcBef>
            <a:spcAft>
              <a:spcPct val="35000"/>
            </a:spcAft>
          </a:pPr>
          <a:r>
            <a:rPr lang="en-US"/>
            <a:t>Elektronik Ortamda Reklamlar</a:t>
          </a:r>
        </a:p>
      </dgm:t>
    </dgm:pt>
    <dgm:pt modelId="{40722E6B-70D7-49DD-BCDB-C5F5A53BB946}" cxnId="{8C8F8D17-543C-46BA-B39A-1A065EA3BB9B}" type="parTrans">
      <dgm:prSet/>
      <dgm:spPr/>
      <dgm:t>
        <a:bodyPr/>
        <a:lstStyle/>
        <a:p>
          <a:endParaRPr lang="en-US"/>
        </a:p>
      </dgm:t>
    </dgm:pt>
    <dgm:pt modelId="{AC66A5CC-387D-4D7B-8E90-1B8214C2F261}" cxnId="{8C8F8D17-543C-46BA-B39A-1A065EA3BB9B}" type="sibTrans">
      <dgm:prSet/>
      <dgm:spPr/>
      <dgm:t>
        <a:bodyPr/>
        <a:lstStyle/>
        <a:p>
          <a:endParaRPr lang="en-US"/>
        </a:p>
      </dgm:t>
    </dgm:pt>
    <dgm:pt modelId="{ECE2948F-862B-4CC3-B6BC-3E6415C7F5DD}">
      <dgm:prSet phldrT="[Text]" phldr="0" custT="0"/>
      <dgm:spPr/>
      <dgm:t>
        <a:bodyPr vert="horz" wrap="square"/>
        <a:lstStyle/>
        <a:p>
          <a:pPr>
            <a:lnSpc>
              <a:spcPct val="100000"/>
            </a:lnSpc>
            <a:spcBef>
              <a:spcPct val="0"/>
            </a:spcBef>
            <a:spcAft>
              <a:spcPct val="35000"/>
            </a:spcAft>
          </a:pPr>
          <a:r>
            <a:rPr lang="en-US"/>
            <a:t>Reklam yapılacak mesleklerle ilgili mevzuat</a:t>
          </a:r>
        </a:p>
      </dgm:t>
    </dgm:pt>
    <dgm:pt modelId="{055F34F9-26B5-46B6-B947-B5718EF53A09}" cxnId="{6BF16EE8-988E-4D16-921C-1E83B38B960F}" type="parTrans">
      <dgm:prSet/>
      <dgm:spPr/>
      <dgm:t>
        <a:bodyPr/>
        <a:lstStyle/>
        <a:p>
          <a:endParaRPr lang="en-US"/>
        </a:p>
      </dgm:t>
    </dgm:pt>
    <dgm:pt modelId="{4116C939-0673-4613-8FA7-CB6FE7258301}" cxnId="{6BF16EE8-988E-4D16-921C-1E83B38B960F}" type="sibTrans">
      <dgm:prSet/>
      <dgm:spPr/>
      <dgm:t>
        <a:bodyPr/>
        <a:lstStyle/>
        <a:p>
          <a:endParaRPr lang="en-US"/>
        </a:p>
      </dgm:t>
    </dgm:pt>
    <dgm:pt modelId="{D34FE5D7-7525-4D59-ABC9-3998105E634C}">
      <dgm:prSet phldrT="[Text]" phldr="0" custT="0"/>
      <dgm:spPr/>
      <dgm:t>
        <a:bodyPr vert="horz" wrap="square"/>
        <a:lstStyle/>
        <a:p>
          <a:pPr>
            <a:lnSpc>
              <a:spcPct val="100000"/>
            </a:lnSpc>
            <a:spcBef>
              <a:spcPct val="0"/>
            </a:spcBef>
            <a:spcAft>
              <a:spcPct val="35000"/>
            </a:spcAft>
          </a:pPr>
          <a:r>
            <a:rPr lang="en-US"/>
            <a:t>Elektronik Ticaret Kanunu</a:t>
          </a:r>
        </a:p>
      </dgm:t>
    </dgm:pt>
    <dgm:pt modelId="{A96BE2DD-535A-47FD-A010-195BD3C076B9}" cxnId="{2F5A7FFC-F403-4F1B-AB39-822A3F6102D0}" type="parTrans">
      <dgm:prSet/>
      <dgm:spPr/>
      <dgm:t>
        <a:bodyPr/>
        <a:lstStyle/>
        <a:p>
          <a:endParaRPr lang="en-US"/>
        </a:p>
      </dgm:t>
    </dgm:pt>
    <dgm:pt modelId="{75EA9321-EAFA-4AF6-8313-8107E8EB3526}" cxnId="{2F5A7FFC-F403-4F1B-AB39-822A3F6102D0}" type="sibTrans">
      <dgm:prSet/>
      <dgm:spPr/>
      <dgm:t>
        <a:bodyPr/>
        <a:lstStyle/>
        <a:p>
          <a:endParaRPr lang="en-US"/>
        </a:p>
      </dgm:t>
    </dgm:pt>
    <dgm:pt modelId="{D3C577E5-3BEF-46E7-B429-886936EA54BB}">
      <dgm:prSet phldr="0" custT="0"/>
      <dgm:spPr/>
      <dgm:t>
        <a:bodyPr vert="horz" wrap="square"/>
        <a:lstStyle/>
        <a:p>
          <a:pPr>
            <a:lnSpc>
              <a:spcPct val="100000"/>
            </a:lnSpc>
            <a:spcBef>
              <a:spcPct val="0"/>
            </a:spcBef>
            <a:spcAft>
              <a:spcPct val="35000"/>
            </a:spcAft>
          </a:pPr>
          <a:r>
            <a:rPr altLang="en-US"/>
            <a:t>Tüketicinin Korunması Mevzuatı</a:t>
          </a:r>
        </a:p>
      </dgm:t>
    </dgm:pt>
    <dgm:pt modelId="{E6F14900-1A28-4BCA-AC39-A8E54866DDBF}" cxnId="{60180A8A-3780-4AB4-AB16-469981B9AACB}" type="parTrans">
      <dgm:prSet/>
      <dgm:spPr/>
    </dgm:pt>
    <dgm:pt modelId="{75B04BC3-0DAD-4540-9DAD-E4D70FADE2BC}" cxnId="{60180A8A-3780-4AB4-AB16-469981B9AACB}" type="sibTrans">
      <dgm:prSet/>
      <dgm:spPr/>
    </dgm:pt>
    <dgm:pt modelId="{E17F1310-B4AD-4B57-8D9B-BF776721EA77}">
      <dgm:prSet phldrT="[Text]" phldr="0" custT="0"/>
      <dgm:spPr/>
      <dgm:t>
        <a:bodyPr vert="horz" wrap="square"/>
        <a:lstStyle/>
        <a:p>
          <a:pPr>
            <a:lnSpc>
              <a:spcPct val="100000"/>
            </a:lnSpc>
            <a:spcBef>
              <a:spcPct val="0"/>
            </a:spcBef>
            <a:spcAft>
              <a:spcPct val="35000"/>
            </a:spcAft>
          </a:pPr>
          <a:r>
            <a:rPr lang="en-US"/>
            <a:t>Haksız Rekabete İlişkin Düzenlemeler (TTK-BK)</a:t>
          </a:r>
        </a:p>
      </dgm:t>
    </dgm:pt>
    <dgm:pt modelId="{6BAC1755-6217-4715-99C2-D1422148265D}" cxnId="{533B9B93-493C-424C-8B26-DAF28069A623}" type="parTrans">
      <dgm:prSet/>
      <dgm:spPr/>
      <dgm:t>
        <a:bodyPr/>
        <a:lstStyle/>
        <a:p>
          <a:endParaRPr lang="en-US"/>
        </a:p>
      </dgm:t>
    </dgm:pt>
    <dgm:pt modelId="{925984A4-8E6F-4D28-B868-DBAB08F4BD28}" cxnId="{533B9B93-493C-424C-8B26-DAF28069A623}" type="sibTrans">
      <dgm:prSet/>
      <dgm:spPr/>
      <dgm:t>
        <a:bodyPr/>
        <a:lstStyle/>
        <a:p>
          <a:endParaRPr lang="en-US"/>
        </a:p>
      </dgm:t>
    </dgm:pt>
    <dgm:pt modelId="{468FA009-1E87-4539-85FA-5C28B78DD6E9}">
      <dgm:prSet phldrT="[Text]" phldr="0" custT="0"/>
      <dgm:spPr/>
      <dgm:t>
        <a:bodyPr vert="horz" wrap="square"/>
        <a:lstStyle/>
        <a:p>
          <a:pPr>
            <a:lnSpc>
              <a:spcPct val="100000"/>
            </a:lnSpc>
            <a:spcBef>
              <a:spcPct val="0"/>
            </a:spcBef>
            <a:spcAft>
              <a:spcPct val="35000"/>
            </a:spcAft>
          </a:pPr>
          <a:r>
            <a:rPr lang="en-US"/>
            <a:t>İlgili Ürünlerle İlgili Reklam Düzenlemeleri</a:t>
          </a:r>
        </a:p>
      </dgm:t>
    </dgm:pt>
    <dgm:pt modelId="{F205FF88-2C9B-4658-BCAA-BEA6EB7393B2}" cxnId="{EC56DC91-8271-4BF8-B73D-927C2B2CD2B3}" type="parTrans">
      <dgm:prSet/>
      <dgm:spPr/>
      <dgm:t>
        <a:bodyPr/>
        <a:lstStyle/>
        <a:p>
          <a:endParaRPr lang="en-US"/>
        </a:p>
      </dgm:t>
    </dgm:pt>
    <dgm:pt modelId="{B5C730DE-1181-420B-A78D-195E914DCCF5}" cxnId="{EC56DC91-8271-4BF8-B73D-927C2B2CD2B3}" type="sibTrans">
      <dgm:prSet/>
      <dgm:spPr/>
      <dgm:t>
        <a:bodyPr/>
        <a:lstStyle/>
        <a:p>
          <a:endParaRPr lang="en-US"/>
        </a:p>
      </dgm:t>
    </dgm:pt>
    <dgm:pt modelId="{2C73E2E0-C2CF-484D-B3ED-CB193D605F20}">
      <dgm:prSet phldr="0" custT="0"/>
      <dgm:spPr/>
      <dgm:t>
        <a:bodyPr vert="horz" wrap="square"/>
        <a:p>
          <a:pPr>
            <a:lnSpc>
              <a:spcPct val="100000"/>
            </a:lnSpc>
            <a:spcBef>
              <a:spcPct val="0"/>
            </a:spcBef>
            <a:spcAft>
              <a:spcPct val="35000"/>
            </a:spcAft>
          </a:pPr>
          <a:r>
            <a:rPr lang="tr-TR"/>
            <a:t>Kişisel</a:t>
          </a:r>
          <a:endParaRPr lang="tr-TR"/>
        </a:p>
        <a:p>
          <a:pPr>
            <a:lnSpc>
              <a:spcPct val="100000"/>
            </a:lnSpc>
            <a:spcBef>
              <a:spcPct val="0"/>
            </a:spcBef>
            <a:spcAft>
              <a:spcPct val="35000"/>
            </a:spcAft>
          </a:pPr>
          <a:r>
            <a:rPr lang="tr-TR"/>
            <a:t>Verilerin</a:t>
          </a:r>
          <a:endParaRPr lang="tr-TR"/>
        </a:p>
        <a:p>
          <a:pPr>
            <a:lnSpc>
              <a:spcPct val="100000"/>
            </a:lnSpc>
            <a:spcBef>
              <a:spcPct val="0"/>
            </a:spcBef>
            <a:spcAft>
              <a:spcPct val="35000"/>
            </a:spcAft>
          </a:pPr>
          <a:r>
            <a:rPr lang="tr-TR"/>
            <a:t>Korunması</a:t>
          </a:r>
          <a:endParaRPr lang="tr-TR"/>
        </a:p>
        <a:p>
          <a:pPr>
            <a:lnSpc>
              <a:spcPct val="100000"/>
            </a:lnSpc>
            <a:spcBef>
              <a:spcPct val="0"/>
            </a:spcBef>
            <a:spcAft>
              <a:spcPct val="35000"/>
            </a:spcAft>
          </a:pPr>
          <a:r>
            <a:rPr lang="tr-TR"/>
            <a:t>Kanunu</a:t>
          </a:r>
          <a:r>
            <a:rPr lang="tr-TR"/>
            <a:t/>
          </a:r>
          <a:endParaRPr lang="tr-TR"/>
        </a:p>
      </dgm:t>
    </dgm:pt>
    <dgm:pt modelId="{C3CC5AFF-3D14-42FF-B185-1FB1D9955CD8}" cxnId="{05F9B3F7-9117-4575-811F-069D83A06223}" type="parTrans">
      <dgm:prSet/>
      <dgm:spPr/>
    </dgm:pt>
    <dgm:pt modelId="{0D77DC0F-02F9-42AD-8FA0-C6726BD64158}" cxnId="{05F9B3F7-9117-4575-811F-069D83A06223}" type="sibTrans">
      <dgm:prSet/>
      <dgm:spPr/>
    </dgm:pt>
    <dgm:pt modelId="{D5B7622F-17AC-467C-B10C-28C38C38C350}" type="pres">
      <dgm:prSet presAssocID="{37D76233-2C52-45E9-94E8-FBDCAFC81AF1}" presName="Name0" presStyleCnt="0">
        <dgm:presLayoutVars>
          <dgm:chMax val="1"/>
          <dgm:dir/>
          <dgm:animLvl val="ctr"/>
          <dgm:resizeHandles val="exact"/>
        </dgm:presLayoutVars>
      </dgm:prSet>
      <dgm:spPr/>
      <dgm:t>
        <a:bodyPr/>
        <a:lstStyle/>
        <a:p>
          <a:endParaRPr lang="tr-TR"/>
        </a:p>
      </dgm:t>
    </dgm:pt>
    <dgm:pt modelId="{BADECBB5-37EA-4668-8A2F-BD2C2902F22A}" type="pres">
      <dgm:prSet presAssocID="{8E2A460B-45D3-4E20-A31D-4AFE676F0DDA}" presName="centerShape" presStyleLbl="node0" presStyleIdx="0" presStyleCnt="1"/>
      <dgm:spPr/>
      <dgm:t>
        <a:bodyPr/>
        <a:lstStyle/>
        <a:p>
          <a:endParaRPr lang="tr-TR"/>
        </a:p>
      </dgm:t>
    </dgm:pt>
    <dgm:pt modelId="{C2E7DEFD-0505-42BF-AE13-B6483BF86572}" type="pres">
      <dgm:prSet presAssocID="{ECE2948F-862B-4CC3-B6BC-3E6415C7F5DD}" presName="node" presStyleLbl="node1" presStyleIdx="0" presStyleCnt="6">
        <dgm:presLayoutVars>
          <dgm:bulletEnabled val="1"/>
        </dgm:presLayoutVars>
      </dgm:prSet>
      <dgm:spPr/>
      <dgm:t>
        <a:bodyPr/>
        <a:lstStyle/>
        <a:p>
          <a:endParaRPr lang="tr-TR"/>
        </a:p>
      </dgm:t>
    </dgm:pt>
    <dgm:pt modelId="{45046E67-FA41-4C32-9E33-BDDDFBBF1D6A}" type="pres">
      <dgm:prSet presAssocID="{ECE2948F-862B-4CC3-B6BC-3E6415C7F5DD}" presName="dummy" presStyleCnt="0"/>
      <dgm:spPr/>
    </dgm:pt>
    <dgm:pt modelId="{F3596884-C09F-4C70-900E-D61864BED5F1}" type="pres">
      <dgm:prSet presAssocID="{4116C939-0673-4613-8FA7-CB6FE7258301}" presName="sibTrans" presStyleLbl="sibTrans2D1" presStyleIdx="0" presStyleCnt="6"/>
      <dgm:spPr/>
      <dgm:t>
        <a:bodyPr/>
        <a:lstStyle/>
        <a:p>
          <a:endParaRPr lang="tr-TR"/>
        </a:p>
      </dgm:t>
    </dgm:pt>
    <dgm:pt modelId="{44F31994-0027-4DC3-B39E-FEE01FB1A852}" type="pres">
      <dgm:prSet presAssocID="{D34FE5D7-7525-4D59-ABC9-3998105E634C}" presName="node" presStyleLbl="node1" presStyleIdx="1" presStyleCnt="6">
        <dgm:presLayoutVars>
          <dgm:bulletEnabled val="1"/>
        </dgm:presLayoutVars>
      </dgm:prSet>
      <dgm:spPr/>
      <dgm:t>
        <a:bodyPr/>
        <a:lstStyle/>
        <a:p>
          <a:endParaRPr lang="tr-TR"/>
        </a:p>
      </dgm:t>
    </dgm:pt>
    <dgm:pt modelId="{C6A1073C-AEB6-41D2-8257-B02F52AE6460}" type="pres">
      <dgm:prSet presAssocID="{D34FE5D7-7525-4D59-ABC9-3998105E634C}" presName="dummy" presStyleCnt="0"/>
      <dgm:spPr/>
    </dgm:pt>
    <dgm:pt modelId="{15715456-3418-4DF0-AF3A-DA59307B110D}" type="pres">
      <dgm:prSet presAssocID="{75EA9321-EAFA-4AF6-8313-8107E8EB3526}" presName="sibTrans" presStyleLbl="sibTrans2D1" presStyleIdx="1" presStyleCnt="6"/>
      <dgm:spPr/>
      <dgm:t>
        <a:bodyPr/>
        <a:lstStyle/>
        <a:p>
          <a:endParaRPr lang="tr-TR"/>
        </a:p>
      </dgm:t>
    </dgm:pt>
    <dgm:pt modelId="{B3BDA933-B388-401C-B1A0-9BC6DF92867D}" type="pres">
      <dgm:prSet presAssocID="{D3C577E5-3BEF-46E7-B429-886936EA54BB}" presName="node" presStyleLbl="node1" presStyleIdx="2" presStyleCnt="6">
        <dgm:presLayoutVars>
          <dgm:bulletEnabled val="1"/>
        </dgm:presLayoutVars>
      </dgm:prSet>
      <dgm:spPr/>
      <dgm:t>
        <a:bodyPr/>
        <a:lstStyle/>
        <a:p>
          <a:endParaRPr lang="tr-TR"/>
        </a:p>
      </dgm:t>
    </dgm:pt>
    <dgm:pt modelId="{6C8E73B1-569A-4388-AA38-EF7357DE96D7}" type="pres">
      <dgm:prSet presAssocID="{D3C577E5-3BEF-46E7-B429-886936EA54BB}" presName="dummy" presStyleCnt="0"/>
      <dgm:spPr/>
    </dgm:pt>
    <dgm:pt modelId="{0FB0889E-BAB5-4C66-8E1A-93DD70A2F9D0}" type="pres">
      <dgm:prSet presAssocID="{75B04BC3-0DAD-4540-9DAD-E4D70FADE2BC}" presName="sibTrans" presStyleLbl="sibTrans2D1" presStyleIdx="2" presStyleCnt="6"/>
      <dgm:spPr/>
    </dgm:pt>
    <dgm:pt modelId="{0DA4B7DF-BD6B-46E8-940A-69050C019BB3}" type="pres">
      <dgm:prSet presAssocID="{E17F1310-B4AD-4B57-8D9B-BF776721EA77}" presName="node" presStyleLbl="node1" presStyleIdx="3" presStyleCnt="6">
        <dgm:presLayoutVars>
          <dgm:bulletEnabled val="1"/>
        </dgm:presLayoutVars>
      </dgm:prSet>
      <dgm:spPr/>
      <dgm:t>
        <a:bodyPr/>
        <a:lstStyle/>
        <a:p>
          <a:endParaRPr lang="tr-TR"/>
        </a:p>
      </dgm:t>
    </dgm:pt>
    <dgm:pt modelId="{9268D1C0-A139-4893-A300-CF509D15352B}" type="pres">
      <dgm:prSet presAssocID="{E17F1310-B4AD-4B57-8D9B-BF776721EA77}" presName="dummy" presStyleCnt="0"/>
      <dgm:spPr/>
    </dgm:pt>
    <dgm:pt modelId="{EBDCA107-8C73-4044-AC95-50DA28B759A8}" type="pres">
      <dgm:prSet presAssocID="{925984A4-8E6F-4D28-B868-DBAB08F4BD28}" presName="sibTrans" presStyleLbl="sibTrans2D1" presStyleIdx="3" presStyleCnt="6"/>
      <dgm:spPr/>
      <dgm:t>
        <a:bodyPr/>
        <a:lstStyle/>
        <a:p>
          <a:endParaRPr lang="tr-TR"/>
        </a:p>
      </dgm:t>
    </dgm:pt>
    <dgm:pt modelId="{F539A410-44AA-4A02-9F1B-997DD2B71E87}" type="pres">
      <dgm:prSet presAssocID="{468FA009-1E87-4539-85FA-5C28B78DD6E9}" presName="node" presStyleLbl="node1" presStyleIdx="4" presStyleCnt="6">
        <dgm:presLayoutVars>
          <dgm:bulletEnabled val="1"/>
        </dgm:presLayoutVars>
      </dgm:prSet>
      <dgm:spPr/>
      <dgm:t>
        <a:bodyPr/>
        <a:lstStyle/>
        <a:p>
          <a:endParaRPr lang="tr-TR"/>
        </a:p>
      </dgm:t>
    </dgm:pt>
    <dgm:pt modelId="{2B016566-AAE3-46FD-A114-7C13E71734EF}" type="pres">
      <dgm:prSet presAssocID="{468FA009-1E87-4539-85FA-5C28B78DD6E9}" presName="dummy" presStyleCnt="0"/>
      <dgm:spPr/>
    </dgm:pt>
    <dgm:pt modelId="{B5FF6E04-452A-4146-97F4-3BC94EB5BB87}" type="pres">
      <dgm:prSet presAssocID="{B5C730DE-1181-420B-A78D-195E914DCCF5}" presName="sibTrans" presStyleLbl="sibTrans2D1" presStyleIdx="4" presStyleCnt="6"/>
      <dgm:spPr/>
      <dgm:t>
        <a:bodyPr/>
        <a:lstStyle/>
        <a:p>
          <a:endParaRPr lang="tr-TR"/>
        </a:p>
      </dgm:t>
    </dgm:pt>
    <dgm:pt modelId="{97B3FB74-A507-4B11-A2EA-477DA39B8913}" type="pres">
      <dgm:prSet presAssocID="{2C73E2E0-C2CF-484D-B3ED-CB193D605F20}" presName="node" presStyleLbl="node1" presStyleIdx="5" presStyleCnt="6">
        <dgm:presLayoutVars>
          <dgm:bulletEnabled val="1"/>
        </dgm:presLayoutVars>
      </dgm:prSet>
      <dgm:spPr/>
    </dgm:pt>
    <dgm:pt modelId="{5EFC6BCD-2901-42A1-910A-CDBA95671307}" type="pres">
      <dgm:prSet presAssocID="{2C73E2E0-C2CF-484D-B3ED-CB193D605F20}" presName="dummy" presStyleCnt="0"/>
      <dgm:spPr/>
    </dgm:pt>
    <dgm:pt modelId="{2BDF28A5-AEF2-4782-9624-C3B18DA26FC1}" type="pres">
      <dgm:prSet presAssocID="{0D77DC0F-02F9-42AD-8FA0-C6726BD64158}" presName="sibTrans" presStyleLbl="sibTrans2D1" presStyleIdx="5" presStyleCnt="6"/>
      <dgm:spPr/>
    </dgm:pt>
  </dgm:ptLst>
  <dgm:cxnLst>
    <dgm:cxn modelId="{8C8F8D17-543C-46BA-B39A-1A065EA3BB9B}" srcId="{37D76233-2C52-45E9-94E8-FBDCAFC81AF1}" destId="{8E2A460B-45D3-4E20-A31D-4AFE676F0DDA}" srcOrd="0" destOrd="0" parTransId="{40722E6B-70D7-49DD-BCDB-C5F5A53BB946}" sibTransId="{AC66A5CC-387D-4D7B-8E90-1B8214C2F261}"/>
    <dgm:cxn modelId="{6BF16EE8-988E-4D16-921C-1E83B38B960F}" srcId="{8E2A460B-45D3-4E20-A31D-4AFE676F0DDA}" destId="{ECE2948F-862B-4CC3-B6BC-3E6415C7F5DD}" srcOrd="0" destOrd="0" parTransId="{055F34F9-26B5-46B6-B947-B5718EF53A09}" sibTransId="{4116C939-0673-4613-8FA7-CB6FE7258301}"/>
    <dgm:cxn modelId="{2F5A7FFC-F403-4F1B-AB39-822A3F6102D0}" srcId="{8E2A460B-45D3-4E20-A31D-4AFE676F0DDA}" destId="{D34FE5D7-7525-4D59-ABC9-3998105E634C}" srcOrd="1" destOrd="0" parTransId="{A96BE2DD-535A-47FD-A010-195BD3C076B9}" sibTransId="{75EA9321-EAFA-4AF6-8313-8107E8EB3526}"/>
    <dgm:cxn modelId="{60180A8A-3780-4AB4-AB16-469981B9AACB}" srcId="{8E2A460B-45D3-4E20-A31D-4AFE676F0DDA}" destId="{D3C577E5-3BEF-46E7-B429-886936EA54BB}" srcOrd="2" destOrd="0" parTransId="{E6F14900-1A28-4BCA-AC39-A8E54866DDBF}" sibTransId="{75B04BC3-0DAD-4540-9DAD-E4D70FADE2BC}"/>
    <dgm:cxn modelId="{533B9B93-493C-424C-8B26-DAF28069A623}" srcId="{8E2A460B-45D3-4E20-A31D-4AFE676F0DDA}" destId="{E17F1310-B4AD-4B57-8D9B-BF776721EA77}" srcOrd="3" destOrd="0" parTransId="{6BAC1755-6217-4715-99C2-D1422148265D}" sibTransId="{925984A4-8E6F-4D28-B868-DBAB08F4BD28}"/>
    <dgm:cxn modelId="{EC56DC91-8271-4BF8-B73D-927C2B2CD2B3}" srcId="{8E2A460B-45D3-4E20-A31D-4AFE676F0DDA}" destId="{468FA009-1E87-4539-85FA-5C28B78DD6E9}" srcOrd="4" destOrd="0" parTransId="{F205FF88-2C9B-4658-BCAA-BEA6EB7393B2}" sibTransId="{B5C730DE-1181-420B-A78D-195E914DCCF5}"/>
    <dgm:cxn modelId="{05F9B3F7-9117-4575-811F-069D83A06223}" srcId="{8E2A460B-45D3-4E20-A31D-4AFE676F0DDA}" destId="{2C73E2E0-C2CF-484D-B3ED-CB193D605F20}" srcOrd="5" destOrd="0" parTransId="{C3CC5AFF-3D14-42FF-B185-1FB1D9955CD8}" sibTransId="{0D77DC0F-02F9-42AD-8FA0-C6726BD64158}"/>
    <dgm:cxn modelId="{603AFC3F-7D3B-4749-93E4-72FF5BD6944D}" type="presOf" srcId="{37D76233-2C52-45E9-94E8-FBDCAFC81AF1}" destId="{D5B7622F-17AC-467C-B10C-28C38C38C350}" srcOrd="0" destOrd="0" presId="urn:microsoft.com/office/officeart/2005/8/layout/radial6#1"/>
    <dgm:cxn modelId="{69763970-D120-44D9-8A6C-7475A106C604}" type="presParOf" srcId="{D5B7622F-17AC-467C-B10C-28C38C38C350}" destId="{BADECBB5-37EA-4668-8A2F-BD2C2902F22A}" srcOrd="0" destOrd="0" presId="urn:microsoft.com/office/officeart/2005/8/layout/radial6#1"/>
    <dgm:cxn modelId="{AC48A4CA-B41E-4E80-89B1-D42F4384E870}" type="presOf" srcId="{8E2A460B-45D3-4E20-A31D-4AFE676F0DDA}" destId="{BADECBB5-37EA-4668-8A2F-BD2C2902F22A}" srcOrd="0" destOrd="0" presId="urn:microsoft.com/office/officeart/2005/8/layout/radial6#1"/>
    <dgm:cxn modelId="{2752FA77-501F-4490-BDA1-C4B769CF795F}" type="presParOf" srcId="{D5B7622F-17AC-467C-B10C-28C38C38C350}" destId="{C2E7DEFD-0505-42BF-AE13-B6483BF86572}" srcOrd="1" destOrd="0" presId="urn:microsoft.com/office/officeart/2005/8/layout/radial6#1"/>
    <dgm:cxn modelId="{4EA7FEEB-A998-41BD-9768-B1CB31A93CAF}" type="presOf" srcId="{ECE2948F-862B-4CC3-B6BC-3E6415C7F5DD}" destId="{C2E7DEFD-0505-42BF-AE13-B6483BF86572}" srcOrd="0" destOrd="0" presId="urn:microsoft.com/office/officeart/2005/8/layout/radial6#1"/>
    <dgm:cxn modelId="{792E8A62-8885-4C9E-BF7E-F282C5BB938E}" type="presParOf" srcId="{D5B7622F-17AC-467C-B10C-28C38C38C350}" destId="{45046E67-FA41-4C32-9E33-BDDDFBBF1D6A}" srcOrd="2" destOrd="0" presId="urn:microsoft.com/office/officeart/2005/8/layout/radial6#1"/>
    <dgm:cxn modelId="{EF4F6C12-CEB7-4E6D-B881-62917F96A392}" type="presParOf" srcId="{D5B7622F-17AC-467C-B10C-28C38C38C350}" destId="{F3596884-C09F-4C70-900E-D61864BED5F1}" srcOrd="3" destOrd="0" presId="urn:microsoft.com/office/officeart/2005/8/layout/radial6#1"/>
    <dgm:cxn modelId="{0FF85C3E-89C5-44B9-A2EB-1DDF9C96FAC1}" type="presOf" srcId="{4116C939-0673-4613-8FA7-CB6FE7258301}" destId="{F3596884-C09F-4C70-900E-D61864BED5F1}" srcOrd="0" destOrd="0" presId="urn:microsoft.com/office/officeart/2005/8/layout/radial6#1"/>
    <dgm:cxn modelId="{ACC1FBA5-D43D-4D56-B13D-401B640A9F29}" type="presParOf" srcId="{D5B7622F-17AC-467C-B10C-28C38C38C350}" destId="{44F31994-0027-4DC3-B39E-FEE01FB1A852}" srcOrd="4" destOrd="0" presId="urn:microsoft.com/office/officeart/2005/8/layout/radial6#1"/>
    <dgm:cxn modelId="{AA1F6058-7C81-4E6C-A16B-638786F9DE6F}" type="presOf" srcId="{D34FE5D7-7525-4D59-ABC9-3998105E634C}" destId="{44F31994-0027-4DC3-B39E-FEE01FB1A852}" srcOrd="0" destOrd="0" presId="urn:microsoft.com/office/officeart/2005/8/layout/radial6#1"/>
    <dgm:cxn modelId="{BF5A24B4-5C75-46C9-B3A8-1766F699BC3E}" type="presParOf" srcId="{D5B7622F-17AC-467C-B10C-28C38C38C350}" destId="{C6A1073C-AEB6-41D2-8257-B02F52AE6460}" srcOrd="5" destOrd="0" presId="urn:microsoft.com/office/officeart/2005/8/layout/radial6#1"/>
    <dgm:cxn modelId="{F79EAE87-0DA9-49C6-BE5C-3BF179CFC4CF}" type="presParOf" srcId="{D5B7622F-17AC-467C-B10C-28C38C38C350}" destId="{15715456-3418-4DF0-AF3A-DA59307B110D}" srcOrd="6" destOrd="0" presId="urn:microsoft.com/office/officeart/2005/8/layout/radial6#1"/>
    <dgm:cxn modelId="{1EA84242-18F3-4CE7-8160-9A40F527C0BC}" type="presOf" srcId="{75EA9321-EAFA-4AF6-8313-8107E8EB3526}" destId="{15715456-3418-4DF0-AF3A-DA59307B110D}" srcOrd="0" destOrd="0" presId="urn:microsoft.com/office/officeart/2005/8/layout/radial6#1"/>
    <dgm:cxn modelId="{57A0F46D-347D-4DE9-ACF5-56A75F0E5E69}" type="presParOf" srcId="{D5B7622F-17AC-467C-B10C-28C38C38C350}" destId="{B3BDA933-B388-401C-B1A0-9BC6DF92867D}" srcOrd="7" destOrd="0" presId="urn:microsoft.com/office/officeart/2005/8/layout/radial6#1"/>
    <dgm:cxn modelId="{85D1CEDF-B20F-43F9-B0F2-F04F98A37C63}" type="presOf" srcId="{D3C577E5-3BEF-46E7-B429-886936EA54BB}" destId="{B3BDA933-B388-401C-B1A0-9BC6DF92867D}" srcOrd="0" destOrd="0" presId="urn:microsoft.com/office/officeart/2005/8/layout/radial6#1"/>
    <dgm:cxn modelId="{224DE6E8-92AD-4EAB-B8FA-61CA0F07CA68}" type="presParOf" srcId="{D5B7622F-17AC-467C-B10C-28C38C38C350}" destId="{6C8E73B1-569A-4388-AA38-EF7357DE96D7}" srcOrd="8" destOrd="0" presId="urn:microsoft.com/office/officeart/2005/8/layout/radial6#1"/>
    <dgm:cxn modelId="{A567B1BD-6E55-4F3C-A828-58DCCD981B95}" type="presParOf" srcId="{D5B7622F-17AC-467C-B10C-28C38C38C350}" destId="{0FB0889E-BAB5-4C66-8E1A-93DD70A2F9D0}" srcOrd="9" destOrd="0" presId="urn:microsoft.com/office/officeart/2005/8/layout/radial6#1"/>
    <dgm:cxn modelId="{DBB6B82F-D056-4CA3-AE78-17753AABC788}" type="presOf" srcId="{75B04BC3-0DAD-4540-9DAD-E4D70FADE2BC}" destId="{0FB0889E-BAB5-4C66-8E1A-93DD70A2F9D0}" srcOrd="0" destOrd="0" presId="urn:microsoft.com/office/officeart/2005/8/layout/radial6#1"/>
    <dgm:cxn modelId="{A05D216C-2B71-4961-94DA-D7460776D495}" type="presParOf" srcId="{D5B7622F-17AC-467C-B10C-28C38C38C350}" destId="{0DA4B7DF-BD6B-46E8-940A-69050C019BB3}" srcOrd="10" destOrd="0" presId="urn:microsoft.com/office/officeart/2005/8/layout/radial6#1"/>
    <dgm:cxn modelId="{B53D98DD-93CA-4500-BAA1-8130DECBE37F}" type="presOf" srcId="{E17F1310-B4AD-4B57-8D9B-BF776721EA77}" destId="{0DA4B7DF-BD6B-46E8-940A-69050C019BB3}" srcOrd="0" destOrd="0" presId="urn:microsoft.com/office/officeart/2005/8/layout/radial6#1"/>
    <dgm:cxn modelId="{D071FB39-7418-4516-B434-292E70143443}" type="presParOf" srcId="{D5B7622F-17AC-467C-B10C-28C38C38C350}" destId="{9268D1C0-A139-4893-A300-CF509D15352B}" srcOrd="11" destOrd="0" presId="urn:microsoft.com/office/officeart/2005/8/layout/radial6#1"/>
    <dgm:cxn modelId="{4157ED45-B163-4F42-983D-8C182CE54DED}" type="presParOf" srcId="{D5B7622F-17AC-467C-B10C-28C38C38C350}" destId="{EBDCA107-8C73-4044-AC95-50DA28B759A8}" srcOrd="12" destOrd="0" presId="urn:microsoft.com/office/officeart/2005/8/layout/radial6#1"/>
    <dgm:cxn modelId="{6DA7152B-846A-4CF2-AACF-9EB5BBCA0BCF}" type="presOf" srcId="{925984A4-8E6F-4D28-B868-DBAB08F4BD28}" destId="{EBDCA107-8C73-4044-AC95-50DA28B759A8}" srcOrd="0" destOrd="0" presId="urn:microsoft.com/office/officeart/2005/8/layout/radial6#1"/>
    <dgm:cxn modelId="{275A5242-9E3A-45FF-AAF5-F023959FABEE}" type="presParOf" srcId="{D5B7622F-17AC-467C-B10C-28C38C38C350}" destId="{F539A410-44AA-4A02-9F1B-997DD2B71E87}" srcOrd="13" destOrd="0" presId="urn:microsoft.com/office/officeart/2005/8/layout/radial6#1"/>
    <dgm:cxn modelId="{C2EBF2E4-9896-4CB4-9EAE-86BCAD9CF420}" type="presOf" srcId="{468FA009-1E87-4539-85FA-5C28B78DD6E9}" destId="{F539A410-44AA-4A02-9F1B-997DD2B71E87}" srcOrd="0" destOrd="0" presId="urn:microsoft.com/office/officeart/2005/8/layout/radial6#1"/>
    <dgm:cxn modelId="{FA66BDA7-9FAC-473C-88A8-0CDB16C4E70E}" type="presParOf" srcId="{D5B7622F-17AC-467C-B10C-28C38C38C350}" destId="{2B016566-AAE3-46FD-A114-7C13E71734EF}" srcOrd="14" destOrd="0" presId="urn:microsoft.com/office/officeart/2005/8/layout/radial6#1"/>
    <dgm:cxn modelId="{B5094DF1-7975-40CE-9A03-02F285001C59}" type="presParOf" srcId="{D5B7622F-17AC-467C-B10C-28C38C38C350}" destId="{B5FF6E04-452A-4146-97F4-3BC94EB5BB87}" srcOrd="15" destOrd="0" presId="urn:microsoft.com/office/officeart/2005/8/layout/radial6#1"/>
    <dgm:cxn modelId="{9AF5C1F2-4CC6-4AA0-B759-3E4EFBCBA621}" type="presOf" srcId="{B5C730DE-1181-420B-A78D-195E914DCCF5}" destId="{B5FF6E04-452A-4146-97F4-3BC94EB5BB87}" srcOrd="0" destOrd="0" presId="urn:microsoft.com/office/officeart/2005/8/layout/radial6#1"/>
    <dgm:cxn modelId="{9FE86D25-F53B-4967-A233-F75E578E97C6}" type="presParOf" srcId="{D5B7622F-17AC-467C-B10C-28C38C38C350}" destId="{97B3FB74-A507-4B11-A2EA-477DA39B8913}" srcOrd="16" destOrd="0" presId="urn:microsoft.com/office/officeart/2005/8/layout/radial6#1"/>
    <dgm:cxn modelId="{38044B59-1A60-4959-9737-1542254783D9}" type="presOf" srcId="{2C73E2E0-C2CF-484D-B3ED-CB193D605F20}" destId="{97B3FB74-A507-4B11-A2EA-477DA39B8913}" srcOrd="0" destOrd="0" presId="urn:microsoft.com/office/officeart/2005/8/layout/radial6#1"/>
    <dgm:cxn modelId="{D9EC8618-4028-4A24-9D94-D5454EDC8EB7}" type="presParOf" srcId="{D5B7622F-17AC-467C-B10C-28C38C38C350}" destId="{5EFC6BCD-2901-42A1-910A-CDBA95671307}" srcOrd="17" destOrd="0" presId="urn:microsoft.com/office/officeart/2005/8/layout/radial6#1"/>
    <dgm:cxn modelId="{712E8601-C65D-4FAD-B8A9-ABFE309EEF8D}" type="presParOf" srcId="{D5B7622F-17AC-467C-B10C-28C38C38C350}" destId="{2BDF28A5-AEF2-4782-9624-C3B18DA26FC1}" srcOrd="18" destOrd="0" presId="urn:microsoft.com/office/officeart/2005/8/layout/radial6#1"/>
    <dgm:cxn modelId="{90A19C8D-35CF-4268-80E9-EC94B012F890}" type="presOf" srcId="{0D77DC0F-02F9-42AD-8FA0-C6726BD64158}" destId="{2BDF28A5-AEF2-4782-9624-C3B18DA26FC1}" srcOrd="0" destOrd="0" presId="urn:microsoft.com/office/officeart/2005/8/layout/radial6#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up 1"/>
      <dsp:cNvGrpSpPr/>
    </dsp:nvGrpSpPr>
    <dsp:grpSpPr>
      <a:xfrm>
        <a:off x="0" y="0"/>
        <a:ext cx="8128001" cy="5418454"/>
        <a:chOff x="0" y="0"/>
        <a:chExt cx="8128001" cy="5418454"/>
      </a:xfrm>
    </dsp:grpSpPr>
    <dsp:sp modelId="{F3596884-C09F-4C70-900E-D61864BED5F1}">
      <dsp:nvSpPr>
        <dsp:cNvPr id="5" name="Bloğu Yay 4"/>
        <dsp:cNvSpPr/>
      </dsp:nvSpPr>
      <dsp:spPr bwMode="white">
        <a:xfrm>
          <a:off x="1855963" y="501190"/>
          <a:ext cx="4416074" cy="4416074"/>
        </a:xfrm>
        <a:prstGeom prst="blockArc">
          <a:avLst>
            <a:gd name="adj1" fmla="val 16199999"/>
            <a:gd name="adj2" fmla="val 19800000"/>
            <a:gd name="adj3" fmla="val 386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855963" y="501190"/>
        <a:ext cx="4416074" cy="4416074"/>
      </dsp:txXfrm>
    </dsp:sp>
    <dsp:sp modelId="{15715456-3418-4DF0-AF3A-DA59307B110D}">
      <dsp:nvSpPr>
        <dsp:cNvPr id="7" name="Bloğu Yay 6"/>
        <dsp:cNvSpPr/>
      </dsp:nvSpPr>
      <dsp:spPr bwMode="white">
        <a:xfrm>
          <a:off x="1855963" y="501190"/>
          <a:ext cx="4416074" cy="4416074"/>
        </a:xfrm>
        <a:prstGeom prst="blockArc">
          <a:avLst>
            <a:gd name="adj1" fmla="val 19800000"/>
            <a:gd name="adj2" fmla="val 1800000"/>
            <a:gd name="adj3" fmla="val 386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855963" y="501190"/>
        <a:ext cx="4416074" cy="4416074"/>
      </dsp:txXfrm>
    </dsp:sp>
    <dsp:sp modelId="{0FB0889E-BAB5-4C66-8E1A-93DD70A2F9D0}">
      <dsp:nvSpPr>
        <dsp:cNvPr id="9" name="Bloğu Yay 8"/>
        <dsp:cNvSpPr/>
      </dsp:nvSpPr>
      <dsp:spPr bwMode="white">
        <a:xfrm>
          <a:off x="1855963" y="501190"/>
          <a:ext cx="4416074" cy="4416074"/>
        </a:xfrm>
        <a:prstGeom prst="blockArc">
          <a:avLst>
            <a:gd name="adj1" fmla="val 1800000"/>
            <a:gd name="adj2" fmla="val 5400000"/>
            <a:gd name="adj3" fmla="val 386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855963" y="501190"/>
        <a:ext cx="4416074" cy="4416074"/>
      </dsp:txXfrm>
    </dsp:sp>
    <dsp:sp modelId="{EBDCA107-8C73-4044-AC95-50DA28B759A8}">
      <dsp:nvSpPr>
        <dsp:cNvPr id="11" name="Bloğu Yay 10"/>
        <dsp:cNvSpPr/>
      </dsp:nvSpPr>
      <dsp:spPr bwMode="white">
        <a:xfrm>
          <a:off x="1855963" y="501190"/>
          <a:ext cx="4416074" cy="4416074"/>
        </a:xfrm>
        <a:prstGeom prst="blockArc">
          <a:avLst>
            <a:gd name="adj1" fmla="val 5400000"/>
            <a:gd name="adj2" fmla="val 9000000"/>
            <a:gd name="adj3" fmla="val 386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855963" y="501190"/>
        <a:ext cx="4416074" cy="4416074"/>
      </dsp:txXfrm>
    </dsp:sp>
    <dsp:sp modelId="{B5FF6E04-452A-4146-97F4-3BC94EB5BB87}">
      <dsp:nvSpPr>
        <dsp:cNvPr id="13" name="Bloğu Yay 12"/>
        <dsp:cNvSpPr/>
      </dsp:nvSpPr>
      <dsp:spPr bwMode="white">
        <a:xfrm>
          <a:off x="1855963" y="501190"/>
          <a:ext cx="4416074" cy="4416074"/>
        </a:xfrm>
        <a:prstGeom prst="blockArc">
          <a:avLst>
            <a:gd name="adj1" fmla="val 9000000"/>
            <a:gd name="adj2" fmla="val 12600000"/>
            <a:gd name="adj3" fmla="val 386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855963" y="501190"/>
        <a:ext cx="4416074" cy="4416074"/>
      </dsp:txXfrm>
    </dsp:sp>
    <dsp:sp modelId="{2BDF28A5-AEF2-4782-9624-C3B18DA26FC1}">
      <dsp:nvSpPr>
        <dsp:cNvPr id="15" name="Bloğu Yay 14"/>
        <dsp:cNvSpPr/>
      </dsp:nvSpPr>
      <dsp:spPr bwMode="white">
        <a:xfrm>
          <a:off x="1855963" y="501190"/>
          <a:ext cx="4416074" cy="4416074"/>
        </a:xfrm>
        <a:prstGeom prst="blockArc">
          <a:avLst>
            <a:gd name="adj1" fmla="val 12600000"/>
            <a:gd name="adj2" fmla="val 16199999"/>
            <a:gd name="adj3" fmla="val 3860"/>
          </a:avLst>
        </a:prstGeom>
      </dsp:spPr>
      <dsp:style>
        <a:lnRef idx="0">
          <a:schemeClr val="accent1">
            <a:tint val="60000"/>
          </a:schemeClr>
        </a:lnRef>
        <a:fillRef idx="1">
          <a:schemeClr val="accent1">
            <a:tint val="60000"/>
          </a:schemeClr>
        </a:fillRef>
        <a:effectRef idx="0">
          <a:scrgbClr r="0" g="0" b="0"/>
        </a:effectRef>
        <a:fontRef idx="minor">
          <a:schemeClr val="lt1"/>
        </a:fontRef>
      </dsp:style>
      <dsp:txXfrm>
        <a:off x="1855963" y="501190"/>
        <a:ext cx="4416074" cy="4416074"/>
      </dsp:txXfrm>
    </dsp:sp>
    <dsp:sp modelId="{BADECBB5-37EA-4668-8A2F-BD2C2902F22A}">
      <dsp:nvSpPr>
        <dsp:cNvPr id="3" name="Oval 2"/>
        <dsp:cNvSpPr/>
      </dsp:nvSpPr>
      <dsp:spPr bwMode="white">
        <a:xfrm>
          <a:off x="3121914" y="1767141"/>
          <a:ext cx="1884172" cy="1884172"/>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30480" tIns="30480" rIns="30480" bIns="30480"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t>Elektronik Ortamda Reklamlar</a:t>
          </a:r>
        </a:p>
      </dsp:txBody>
      <dsp:txXfrm>
        <a:off x="3121914" y="1767141"/>
        <a:ext cx="1884172" cy="1884172"/>
      </dsp:txXfrm>
    </dsp:sp>
    <dsp:sp modelId="{C2E7DEFD-0505-42BF-AE13-B6483BF86572}">
      <dsp:nvSpPr>
        <dsp:cNvPr id="4" name="Oval 3"/>
        <dsp:cNvSpPr/>
      </dsp:nvSpPr>
      <dsp:spPr bwMode="white">
        <a:xfrm>
          <a:off x="3404540" y="0"/>
          <a:ext cx="1318920" cy="1318920"/>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a:t>Reklam yapılacak mesleklerle ilgili mevzuat</a:t>
          </a:r>
        </a:p>
      </dsp:txBody>
      <dsp:txXfrm>
        <a:off x="3404540" y="0"/>
        <a:ext cx="1318920" cy="1318920"/>
      </dsp:txXfrm>
    </dsp:sp>
    <dsp:sp modelId="{44F31994-0027-4DC3-B39E-FEE01FB1A852}">
      <dsp:nvSpPr>
        <dsp:cNvPr id="6" name="Oval 5"/>
        <dsp:cNvSpPr/>
      </dsp:nvSpPr>
      <dsp:spPr bwMode="white">
        <a:xfrm>
          <a:off x="5179690" y="1024883"/>
          <a:ext cx="1318920" cy="1318920"/>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a:t>Elektronik Ticaret Kanunu</a:t>
          </a:r>
        </a:p>
      </dsp:txBody>
      <dsp:txXfrm>
        <a:off x="5179690" y="1024883"/>
        <a:ext cx="1318920" cy="1318920"/>
      </dsp:txXfrm>
    </dsp:sp>
    <dsp:sp modelId="{B3BDA933-B388-401C-B1A0-9BC6DF92867D}">
      <dsp:nvSpPr>
        <dsp:cNvPr id="8" name="Oval 7"/>
        <dsp:cNvSpPr/>
      </dsp:nvSpPr>
      <dsp:spPr bwMode="white">
        <a:xfrm>
          <a:off x="5179690" y="3074650"/>
          <a:ext cx="1318920" cy="1318920"/>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altLang="en-US"/>
            <a:t>Tüketicinin Korunması Mevzuatı</a:t>
          </a:r>
        </a:p>
      </dsp:txBody>
      <dsp:txXfrm>
        <a:off x="5179690" y="3074650"/>
        <a:ext cx="1318920" cy="1318920"/>
      </dsp:txXfrm>
    </dsp:sp>
    <dsp:sp modelId="{0DA4B7DF-BD6B-46E8-940A-69050C019BB3}">
      <dsp:nvSpPr>
        <dsp:cNvPr id="10" name="Oval 9"/>
        <dsp:cNvSpPr/>
      </dsp:nvSpPr>
      <dsp:spPr bwMode="white">
        <a:xfrm>
          <a:off x="3404540" y="4099534"/>
          <a:ext cx="1318920" cy="1318920"/>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a:t>Haksız Rekabete İlişkin Düzenlemeler (TTK-BK)</a:t>
          </a:r>
        </a:p>
      </dsp:txBody>
      <dsp:txXfrm>
        <a:off x="3404540" y="4099534"/>
        <a:ext cx="1318920" cy="1318920"/>
      </dsp:txXfrm>
    </dsp:sp>
    <dsp:sp modelId="{F539A410-44AA-4A02-9F1B-997DD2B71E87}">
      <dsp:nvSpPr>
        <dsp:cNvPr id="12" name="Oval 11"/>
        <dsp:cNvSpPr/>
      </dsp:nvSpPr>
      <dsp:spPr bwMode="white">
        <a:xfrm>
          <a:off x="1629390" y="3074650"/>
          <a:ext cx="1318920" cy="1318920"/>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en-US"/>
            <a:t>İlgili Ürünlerle İlgili Reklam Düzenlemeleri</a:t>
          </a:r>
        </a:p>
      </dsp:txBody>
      <dsp:txXfrm>
        <a:off x="1629390" y="3074650"/>
        <a:ext cx="1318920" cy="1318920"/>
      </dsp:txXfrm>
    </dsp:sp>
    <dsp:sp modelId="{97B3FB74-A507-4B11-A2EA-477DA39B8913}">
      <dsp:nvSpPr>
        <dsp:cNvPr id="14" name="Oval 13"/>
        <dsp:cNvSpPr/>
      </dsp:nvSpPr>
      <dsp:spPr bwMode="white">
        <a:xfrm>
          <a:off x="1629390" y="1024883"/>
          <a:ext cx="1318920" cy="1318920"/>
        </a:xfrm>
        <a:prstGeom prst="ellipse">
          <a:avLst/>
        </a:prstGeom>
      </dsp:spPr>
      <dsp:style>
        <a:lnRef idx="2">
          <a:schemeClr val="lt1"/>
        </a:lnRef>
        <a:fillRef idx="1">
          <a:schemeClr val="accent1"/>
        </a:fillRef>
        <a:effectRef idx="0">
          <a:scrgbClr r="0" g="0" b="0"/>
        </a:effectRef>
        <a:fontRef idx="minor">
          <a:schemeClr val="lt1"/>
        </a:fontRef>
      </dsp:style>
      <dsp:txBody>
        <a:bodyPr vert="horz" wrap="square" lIns="13970" tIns="13970" rIns="13970"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tr-TR"/>
            <a:t>Kişisel</a:t>
          </a:r>
          <a:endParaRPr lang="tr-TR"/>
        </a:p>
        <a:p>
          <a:pPr lvl="0">
            <a:lnSpc>
              <a:spcPct val="100000"/>
            </a:lnSpc>
            <a:spcBef>
              <a:spcPct val="0"/>
            </a:spcBef>
            <a:spcAft>
              <a:spcPct val="35000"/>
            </a:spcAft>
          </a:pPr>
          <a:r>
            <a:rPr lang="tr-TR"/>
            <a:t>Verilerin</a:t>
          </a:r>
          <a:endParaRPr lang="tr-TR"/>
        </a:p>
        <a:p>
          <a:pPr lvl="0">
            <a:lnSpc>
              <a:spcPct val="100000"/>
            </a:lnSpc>
            <a:spcBef>
              <a:spcPct val="0"/>
            </a:spcBef>
            <a:spcAft>
              <a:spcPct val="35000"/>
            </a:spcAft>
          </a:pPr>
          <a:r>
            <a:rPr lang="tr-TR"/>
            <a:t>Korunması</a:t>
          </a:r>
          <a:endParaRPr lang="tr-TR"/>
        </a:p>
        <a:p>
          <a:pPr lvl="0">
            <a:lnSpc>
              <a:spcPct val="100000"/>
            </a:lnSpc>
            <a:spcBef>
              <a:spcPct val="0"/>
            </a:spcBef>
            <a:spcAft>
              <a:spcPct val="35000"/>
            </a:spcAft>
          </a:pPr>
          <a:r>
            <a:rPr lang="tr-TR"/>
            <a:t>Kanunu</a:t>
          </a:r>
          <a:endParaRPr lang="tr-TR"/>
        </a:p>
      </dsp:txBody>
      <dsp:txXfrm>
        <a:off x="1629390" y="1024883"/>
        <a:ext cx="1318920" cy="1318920"/>
      </dsp:txXfrm>
    </dsp:sp>
  </dsp:spTree>
</dsp:drawing>
</file>

<file path=ppt/diagrams/layout1.xml><?xml version="1.0" encoding="utf-8"?>
<dgm:layoutDef xmlns:dgm="http://schemas.openxmlformats.org/drawingml/2006/diagram" xmlns:a="http://schemas.openxmlformats.org/drawingml/2006/main" uniqueId="urn:microsoft.com/office/officeart/2005/8/layout/radial6#1">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DD02B2FF-7175-4A9A-A35C-1BDD4383E395}" type="datetimeFigureOut">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hangingPunct="1">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eaLnBrk="1" hangingPunct="1">
              <a:defRPr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fld id="{A2837097-7D39-4B83-8E65-3A9D37E49D55}" type="slidenum">
              <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Calibri" panose="020F050202020403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p>
            <a:pPr lvl="0">
              <a:buNone/>
            </a:pPr>
            <a:endParaRPr lang="zh-CN" altLang="en-US" sz="1200"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p>
            <a:pPr lvl="0" algn="r">
              <a:buNone/>
            </a:pPr>
            <a:endParaRPr lang="zh-CN" altLang="en-US" sz="1200"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Click to edit Master text style</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Second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Third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Fourth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sym typeface="+mn-ea"/>
              </a:rPr>
              <a:t>Fifth level</a:t>
            </a:r>
            <a:endParaRPr kumimoji="0" lang="zh-CN" altLang="en-US" sz="1200" b="0" i="0" u="none" strike="noStrike" kern="1200" cap="none" spc="0" normalizeH="0" baseline="0" noProof="0" smtClean="0">
              <a:ln>
                <a:noFill/>
              </a:ln>
              <a:solidFill>
                <a:schemeClr val="tx1"/>
              </a:solidFill>
              <a:effectLst/>
              <a:uLnTx/>
              <a:uFillTx/>
              <a:latin typeface="+mn-lt"/>
              <a:ea typeface="SimSun" panose="02010600030101010101" pitchFamily="2" charset="-122"/>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p>
            <a:pPr lvl="0">
              <a:buNone/>
            </a:pPr>
            <a:endParaRPr lang="zh-CN" altLang="en-US" sz="1200" dirty="0"/>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1pPr>
    <a:lvl2pPr marL="4572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2pPr>
    <a:lvl3pPr marL="9144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3pPr>
    <a:lvl4pPr marL="13716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4pPr>
    <a:lvl5pPr marL="1828800" algn="l" rtl="0" eaLnBrk="0" fontAlgn="base" hangingPunct="0">
      <a:spcBef>
        <a:spcPct val="0"/>
      </a:spcBef>
      <a:spcAft>
        <a:spcPct val="0"/>
      </a:spcAft>
      <a:defRPr sz="1200" kern="1200">
        <a:solidFill>
          <a:schemeClr val="tx1"/>
        </a:solidFill>
        <a:latin typeface="+mn-lt"/>
        <a:ea typeface="SimSun"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幻灯片图像占位符 1"/>
          <p:cNvSpPr>
            <a:spLocks noGrp="1" noRot="1" noChangeAspect="1" noTextEdit="1"/>
          </p:cNvSpPr>
          <p:nvPr>
            <p:ph type="sldImg"/>
          </p:nvPr>
        </p:nvSpPr>
        <p:spPr>
          <a:ln>
            <a:solidFill>
              <a:srgbClr val="000000">
                <a:alpha val="100000"/>
              </a:srgbClr>
            </a:solidFill>
            <a:miter lim="800000"/>
          </a:ln>
        </p:spPr>
      </p:sp>
      <p:sp>
        <p:nvSpPr>
          <p:cNvPr id="8195" name="备注占位符 2"/>
          <p:cNvSpPr>
            <a:spLocks noGrp="1"/>
          </p:cNvSpPr>
          <p:nvPr>
            <p:ph type="body"/>
          </p:nvPr>
        </p:nvSpPr>
        <p:spPr>
          <a:noFill/>
          <a:ln>
            <a:noFill/>
          </a:ln>
        </p:spPr>
        <p:txBody>
          <a:bodyPr wrap="square" lIns="91440" tIns="45720" rIns="91440" bIns="45720" anchor="t" anchorCtr="0"/>
          <a:p>
            <a:pPr lvl="0" eaLnBrk="1" hangingPunct="1"/>
            <a:endParaRPr lang="zh-CN" altLang="en-US" dirty="0"/>
          </a:p>
        </p:txBody>
      </p:sp>
      <p:sp>
        <p:nvSpPr>
          <p:cNvPr id="81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Slide Image Placeholder 1"/>
          <p:cNvSpPr>
            <a:spLocks noTextEdit="1"/>
          </p:cNvSpPr>
          <p:nvPr>
            <p:ph type="sldImg"/>
          </p:nvPr>
        </p:nvSpPr>
        <p:spPr>
          <a:ln>
            <a:solidFill>
              <a:srgbClr val="000000">
                <a:alpha val="100000"/>
              </a:srgbClr>
            </a:solidFill>
            <a:miter lim="800000"/>
          </a:ln>
        </p:spPr>
      </p:sp>
      <p:sp>
        <p:nvSpPr>
          <p:cNvPr id="1229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Image Placeholder 1"/>
          <p:cNvSpPr>
            <a:spLocks noTextEdit="1"/>
          </p:cNvSpPr>
          <p:nvPr>
            <p:ph type="sldImg"/>
          </p:nvPr>
        </p:nvSpPr>
        <p:spPr>
          <a:ln>
            <a:solidFill>
              <a:srgbClr val="000000">
                <a:alpha val="100000"/>
              </a:srgbClr>
            </a:solidFill>
            <a:miter lim="800000"/>
          </a:ln>
        </p:spPr>
      </p:sp>
      <p:sp>
        <p:nvSpPr>
          <p:cNvPr id="1433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Slide Image Placeholder 1"/>
          <p:cNvSpPr>
            <a:spLocks noTextEdit="1"/>
          </p:cNvSpPr>
          <p:nvPr>
            <p:ph type="sldImg"/>
          </p:nvPr>
        </p:nvSpPr>
        <p:spPr>
          <a:ln>
            <a:solidFill>
              <a:srgbClr val="000000">
                <a:alpha val="100000"/>
              </a:srgbClr>
            </a:solidFill>
            <a:miter lim="800000"/>
          </a:ln>
        </p:spPr>
      </p:sp>
      <p:sp>
        <p:nvSpPr>
          <p:cNvPr id="1638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Slide Image Placeholder 1"/>
          <p:cNvSpPr>
            <a:spLocks noTextEdit="1"/>
          </p:cNvSpPr>
          <p:nvPr>
            <p:ph type="sldImg"/>
          </p:nvPr>
        </p:nvSpPr>
        <p:spPr>
          <a:ln>
            <a:solidFill>
              <a:srgbClr val="000000">
                <a:alpha val="100000"/>
              </a:srgbClr>
            </a:solidFill>
            <a:miter lim="800000"/>
          </a:ln>
        </p:spPr>
      </p:sp>
      <p:sp>
        <p:nvSpPr>
          <p:cNvPr id="1843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Slide Image Placeholder 1"/>
          <p:cNvSpPr>
            <a:spLocks noTextEdit="1"/>
          </p:cNvSpPr>
          <p:nvPr>
            <p:ph type="sldImg"/>
          </p:nvPr>
        </p:nvSpPr>
        <p:spPr>
          <a:ln>
            <a:solidFill>
              <a:srgbClr val="000000">
                <a:alpha val="100000"/>
              </a:srgbClr>
            </a:solidFill>
            <a:miter lim="800000"/>
          </a:ln>
        </p:spPr>
      </p:sp>
      <p:sp>
        <p:nvSpPr>
          <p:cNvPr id="2048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Slide Image Placeholder 1"/>
          <p:cNvSpPr>
            <a:spLocks noTextEdit="1"/>
          </p:cNvSpPr>
          <p:nvPr>
            <p:ph type="sldImg"/>
          </p:nvPr>
        </p:nvSpPr>
        <p:spPr>
          <a:ln>
            <a:solidFill>
              <a:srgbClr val="000000">
                <a:alpha val="100000"/>
              </a:srgbClr>
            </a:solidFill>
            <a:miter lim="800000"/>
          </a:ln>
        </p:spPr>
      </p:sp>
      <p:sp>
        <p:nvSpPr>
          <p:cNvPr id="2253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Slide Image Placeholder 1"/>
          <p:cNvSpPr>
            <a:spLocks noTextEdit="1"/>
          </p:cNvSpPr>
          <p:nvPr>
            <p:ph type="sldImg"/>
          </p:nvPr>
        </p:nvSpPr>
        <p:spPr>
          <a:ln>
            <a:solidFill>
              <a:srgbClr val="000000">
                <a:alpha val="100000"/>
              </a:srgbClr>
            </a:solidFill>
            <a:miter lim="800000"/>
          </a:ln>
        </p:spPr>
      </p:sp>
      <p:sp>
        <p:nvSpPr>
          <p:cNvPr id="2457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Image Placeholder 1"/>
          <p:cNvSpPr>
            <a:spLocks noTextEdit="1"/>
          </p:cNvSpPr>
          <p:nvPr>
            <p:ph type="sldImg"/>
          </p:nvPr>
        </p:nvSpPr>
        <p:spPr>
          <a:ln>
            <a:solidFill>
              <a:srgbClr val="000000">
                <a:alpha val="100000"/>
              </a:srgbClr>
            </a:solidFill>
            <a:miter lim="800000"/>
          </a:ln>
        </p:spPr>
      </p:sp>
      <p:sp>
        <p:nvSpPr>
          <p:cNvPr id="2662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lide Image Placeholder 1"/>
          <p:cNvSpPr>
            <a:spLocks noTextEdit="1"/>
          </p:cNvSpPr>
          <p:nvPr>
            <p:ph type="sldImg"/>
          </p:nvPr>
        </p:nvSpPr>
        <p:spPr>
          <a:ln>
            <a:solidFill>
              <a:srgbClr val="000000">
                <a:alpha val="100000"/>
              </a:srgbClr>
            </a:solidFill>
            <a:miter lim="800000"/>
          </a:ln>
        </p:spPr>
      </p:sp>
      <p:sp>
        <p:nvSpPr>
          <p:cNvPr id="2867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Slide Image Placeholder 1"/>
          <p:cNvSpPr>
            <a:spLocks noTextEdit="1"/>
          </p:cNvSpPr>
          <p:nvPr>
            <p:ph type="sldImg"/>
          </p:nvPr>
        </p:nvSpPr>
        <p:spPr>
          <a:ln>
            <a:solidFill>
              <a:srgbClr val="000000">
                <a:alpha val="100000"/>
              </a:srgbClr>
            </a:solidFill>
            <a:miter lim="800000"/>
          </a:ln>
        </p:spPr>
      </p:sp>
      <p:sp>
        <p:nvSpPr>
          <p:cNvPr id="3072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lide Image Placeholder 1"/>
          <p:cNvSpPr>
            <a:spLocks noTextEdit="1"/>
          </p:cNvSpPr>
          <p:nvPr>
            <p:ph type="sldImg"/>
          </p:nvPr>
        </p:nvSpPr>
        <p:spPr>
          <a:ln>
            <a:solidFill>
              <a:srgbClr val="000000">
                <a:alpha val="100000"/>
              </a:srgbClr>
            </a:solidFill>
            <a:miter lim="800000"/>
          </a:ln>
        </p:spPr>
      </p:sp>
      <p:sp>
        <p:nvSpPr>
          <p:cNvPr id="3277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lide Image Placeholder 1"/>
          <p:cNvSpPr>
            <a:spLocks noTextEdit="1"/>
          </p:cNvSpPr>
          <p:nvPr>
            <p:ph type="sldImg"/>
          </p:nvPr>
        </p:nvSpPr>
        <p:spPr>
          <a:ln>
            <a:solidFill>
              <a:srgbClr val="000000">
                <a:alpha val="100000"/>
              </a:srgbClr>
            </a:solidFill>
            <a:miter lim="800000"/>
          </a:ln>
        </p:spPr>
      </p:sp>
      <p:sp>
        <p:nvSpPr>
          <p:cNvPr id="3277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Slide Image Placeholder 1"/>
          <p:cNvSpPr>
            <a:spLocks noTextEdit="1"/>
          </p:cNvSpPr>
          <p:nvPr>
            <p:ph type="sldImg"/>
          </p:nvPr>
        </p:nvSpPr>
        <p:spPr>
          <a:ln>
            <a:solidFill>
              <a:srgbClr val="000000">
                <a:alpha val="100000"/>
              </a:srgbClr>
            </a:solidFill>
            <a:miter lim="800000"/>
          </a:ln>
        </p:spPr>
      </p:sp>
      <p:sp>
        <p:nvSpPr>
          <p:cNvPr id="3481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Slide Image Placeholder 1"/>
          <p:cNvSpPr>
            <a:spLocks noTextEdit="1"/>
          </p:cNvSpPr>
          <p:nvPr>
            <p:ph type="sldImg"/>
          </p:nvPr>
        </p:nvSpPr>
        <p:spPr>
          <a:ln>
            <a:solidFill>
              <a:srgbClr val="000000">
                <a:alpha val="100000"/>
              </a:srgbClr>
            </a:solidFill>
            <a:miter lim="800000"/>
          </a:ln>
        </p:spPr>
      </p:sp>
      <p:sp>
        <p:nvSpPr>
          <p:cNvPr id="3686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Slide Image Placeholder 1"/>
          <p:cNvSpPr>
            <a:spLocks noTextEdit="1"/>
          </p:cNvSpPr>
          <p:nvPr>
            <p:ph type="sldImg"/>
          </p:nvPr>
        </p:nvSpPr>
        <p:spPr>
          <a:ln>
            <a:solidFill>
              <a:srgbClr val="000000">
                <a:alpha val="100000"/>
              </a:srgbClr>
            </a:solidFill>
            <a:miter lim="800000"/>
          </a:ln>
        </p:spPr>
      </p:sp>
      <p:sp>
        <p:nvSpPr>
          <p:cNvPr id="3891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Slide Image Placeholder 1"/>
          <p:cNvSpPr>
            <a:spLocks noTextEdit="1"/>
          </p:cNvSpPr>
          <p:nvPr>
            <p:ph type="sldImg"/>
          </p:nvPr>
        </p:nvSpPr>
        <p:spPr>
          <a:ln>
            <a:solidFill>
              <a:srgbClr val="000000">
                <a:alpha val="100000"/>
              </a:srgbClr>
            </a:solidFill>
            <a:miter lim="800000"/>
          </a:ln>
        </p:spPr>
      </p:sp>
      <p:sp>
        <p:nvSpPr>
          <p:cNvPr id="4096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Image Placeholder 1"/>
          <p:cNvSpPr>
            <a:spLocks noTextEdit="1"/>
          </p:cNvSpPr>
          <p:nvPr>
            <p:ph type="sldImg"/>
          </p:nvPr>
        </p:nvSpPr>
        <p:spPr>
          <a:ln>
            <a:solidFill>
              <a:srgbClr val="000000">
                <a:alpha val="100000"/>
              </a:srgbClr>
            </a:solidFill>
            <a:miter lim="800000"/>
          </a:ln>
        </p:spPr>
      </p:sp>
      <p:sp>
        <p:nvSpPr>
          <p:cNvPr id="4301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Slide Image Placeholder 1"/>
          <p:cNvSpPr>
            <a:spLocks noTextEdit="1"/>
          </p:cNvSpPr>
          <p:nvPr>
            <p:ph type="sldImg"/>
          </p:nvPr>
        </p:nvSpPr>
        <p:spPr>
          <a:ln>
            <a:solidFill>
              <a:srgbClr val="000000">
                <a:alpha val="100000"/>
              </a:srgbClr>
            </a:solidFill>
            <a:miter lim="800000"/>
          </a:ln>
        </p:spPr>
      </p:sp>
      <p:sp>
        <p:nvSpPr>
          <p:cNvPr id="4505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Slide Image Placeholder 1"/>
          <p:cNvSpPr>
            <a:spLocks noTextEdit="1"/>
          </p:cNvSpPr>
          <p:nvPr>
            <p:ph type="sldImg"/>
          </p:nvPr>
        </p:nvSpPr>
        <p:spPr>
          <a:ln>
            <a:solidFill>
              <a:srgbClr val="000000">
                <a:alpha val="100000"/>
              </a:srgbClr>
            </a:solidFill>
            <a:miter lim="800000"/>
          </a:ln>
        </p:spPr>
      </p:sp>
      <p:sp>
        <p:nvSpPr>
          <p:cNvPr id="45059"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Slide Image Placeholder 1"/>
          <p:cNvSpPr>
            <a:spLocks noTextEdit="1"/>
          </p:cNvSpPr>
          <p:nvPr>
            <p:ph type="sldImg"/>
          </p:nvPr>
        </p:nvSpPr>
        <p:spPr>
          <a:ln>
            <a:solidFill>
              <a:srgbClr val="000000">
                <a:alpha val="100000"/>
              </a:srgbClr>
            </a:solidFill>
            <a:miter lim="800000"/>
          </a:ln>
        </p:spPr>
      </p:sp>
      <p:sp>
        <p:nvSpPr>
          <p:cNvPr id="47107"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Slide Image Placeholder 1"/>
          <p:cNvSpPr>
            <a:spLocks noTextEdit="1"/>
          </p:cNvSpPr>
          <p:nvPr>
            <p:ph type="sldImg"/>
          </p:nvPr>
        </p:nvSpPr>
        <p:spPr>
          <a:ln>
            <a:solidFill>
              <a:srgbClr val="000000">
                <a:alpha val="100000"/>
              </a:srgbClr>
            </a:solidFill>
            <a:miter lim="800000"/>
          </a:ln>
        </p:spPr>
      </p:sp>
      <p:sp>
        <p:nvSpPr>
          <p:cNvPr id="49155"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Slide Image Placeholder 1"/>
          <p:cNvSpPr>
            <a:spLocks noTextEdit="1"/>
          </p:cNvSpPr>
          <p:nvPr>
            <p:ph type="sldImg"/>
          </p:nvPr>
        </p:nvSpPr>
        <p:spPr>
          <a:ln>
            <a:solidFill>
              <a:srgbClr val="000000">
                <a:alpha val="100000"/>
              </a:srgbClr>
            </a:solidFill>
            <a:miter lim="800000"/>
          </a:ln>
        </p:spPr>
      </p:sp>
      <p:sp>
        <p:nvSpPr>
          <p:cNvPr id="51203"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Slide Image Placeholder 1"/>
          <p:cNvSpPr>
            <a:spLocks noTextEdit="1"/>
          </p:cNvSpPr>
          <p:nvPr>
            <p:ph type="sldImg"/>
          </p:nvPr>
        </p:nvSpPr>
        <p:spPr>
          <a:ln>
            <a:solidFill>
              <a:srgbClr val="000000">
                <a:alpha val="100000"/>
              </a:srgbClr>
            </a:solidFill>
            <a:miter lim="800000"/>
          </a:ln>
        </p:spPr>
      </p:sp>
      <p:sp>
        <p:nvSpPr>
          <p:cNvPr id="53251" name="Text Placeholder 2"/>
          <p:cNvSpPr/>
          <p:nvPr>
            <p:ph type="body"/>
          </p:nvPr>
        </p:nvSpPr>
        <p:spPr>
          <a:noFill/>
          <a:ln>
            <a:noFill/>
          </a:ln>
        </p:spPr>
        <p:txBody>
          <a:bodyPr wrap="square" lIns="91440" tIns="45720" rIns="91440" bIns="45720" anchor="t" anchorCtr="0"/>
          <a:p>
            <a:pPr lvl="0" eaLnBrk="1" hangingPunct="1"/>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noProof="1" smtClean="0"/>
              <a:t>Click to edit Master title style</a:t>
            </a:r>
            <a:endParaRPr lang="zh-CN" altLang="en-US" noProof="1" smtClean="0"/>
          </a:p>
        </p:txBody>
      </p:sp>
      <p:sp>
        <p:nvSpPr>
          <p:cNvPr id="3" name="内容占位符 2"/>
          <p:cNvSpPr>
            <a:spLocks noGrp="1"/>
          </p:cNvSpPr>
          <p:nvPr>
            <p:ph idx="1" hasCustomPrompt="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tr-TR" altLang="zh-CN" noProof="1" smtClean="0"/>
              <a:t>Asıl metin stillerini düzenle</a:t>
            </a:r>
            <a:endParaRPr lang="tr-TR" altLang="zh-CN" noProof="1" smtClean="0"/>
          </a:p>
          <a:p>
            <a:pPr lvl="1"/>
            <a:r>
              <a:rPr lang="tr-TR" altLang="zh-CN" noProof="1" smtClean="0"/>
              <a:t>İkinci düzey</a:t>
            </a:r>
            <a:endParaRPr lang="tr-TR" altLang="zh-CN" noProof="1" smtClean="0"/>
          </a:p>
          <a:p>
            <a:pPr lvl="2"/>
            <a:r>
              <a:rPr lang="tr-TR" altLang="zh-CN" noProof="1" smtClean="0"/>
              <a:t>Üçüncü düzey</a:t>
            </a:r>
            <a:endParaRPr lang="tr-TR" altLang="zh-CN" noProof="1" smtClean="0"/>
          </a:p>
          <a:p>
            <a:pPr lvl="3"/>
            <a:r>
              <a:rPr lang="tr-TR" altLang="zh-CN" noProof="1" smtClean="0"/>
              <a:t>Dördüncü düzey</a:t>
            </a:r>
            <a:endParaRPr lang="tr-TR" altLang="zh-CN" noProof="1" smtClean="0"/>
          </a:p>
          <a:p>
            <a:pPr lvl="4"/>
            <a:r>
              <a:rPr lang="tr-TR" altLang="zh-CN" noProof="1" smtClean="0"/>
              <a:t>Beşinci düzey</a:t>
            </a:r>
            <a:endParaRPr lang="zh-CN" altLang="en-US" noProof="1" smtClean="0"/>
          </a:p>
        </p:txBody>
      </p:sp>
      <p:sp>
        <p:nvSpPr>
          <p:cNvPr id="4" name="Tarih Yer Tutucusu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Alt Bilgi Yer Tutucu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ayt Numarası Yer Tutucu 5"/>
          <p:cNvSpPr>
            <a:spLocks noGrp="1"/>
          </p:cNvSpPr>
          <p:nvPr>
            <p:ph type="sldNum" sz="quarter" idx="12"/>
          </p:nvPr>
        </p:nvSpPr>
        <p:spPr/>
        <p:txBody>
          <a:bodyPr/>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SimSun" panose="02010600030101010101" pitchFamily="2"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2051"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3075"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Click to edit Master title style</a:t>
            </a:r>
            <a:endParaRPr lang="zh-CN" altLang="en-US" dirty="0"/>
          </a:p>
        </p:txBody>
      </p:sp>
      <p:sp>
        <p:nvSpPr>
          <p:cNvPr id="3075" name="文本占位符 2"/>
          <p:cNvSpPr>
            <a:spLocks noGrp="1"/>
          </p:cNvSpPr>
          <p:nvPr>
            <p:ph type="body"/>
          </p:nvPr>
        </p:nvSpPr>
        <p:spPr>
          <a:xfrm>
            <a:off x="838200" y="1825625"/>
            <a:ext cx="10515600" cy="4351338"/>
          </a:xfrm>
          <a:prstGeom prst="rect">
            <a:avLst/>
          </a:prstGeom>
          <a:noFill/>
          <a:ln w="9525">
            <a:noFill/>
          </a:ln>
        </p:spPr>
        <p:txBody>
          <a:bodyPr/>
          <a:p>
            <a:pPr lvl="0"/>
            <a:r>
              <a:rPr lang="zh-CN" altLang="en-US" dirty="0"/>
              <a:t>Click to edit Master </a:t>
            </a:r>
            <a:r>
              <a:rPr lang="zh-CN" altLang="zh-CN" dirty="0"/>
              <a:t>text</a:t>
            </a:r>
            <a:r>
              <a:rPr lang="zh-CN" altLang="en-US" dirty="0"/>
              <a:t> style</a:t>
            </a:r>
            <a:endParaRPr lang="zh-CN" altLang="en-US" dirty="0"/>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l" rtl="0" eaLnBrk="0" fontAlgn="base" hangingPunct="0">
        <a:lnSpc>
          <a:spcPct val="90000"/>
        </a:lnSpc>
        <a:spcBef>
          <a:spcPct val="0"/>
        </a:spcBef>
        <a:spcAft>
          <a:spcPct val="0"/>
        </a:spcAft>
        <a:defRPr sz="4400" kern="1200">
          <a:solidFill>
            <a:srgbClr val="000000"/>
          </a:solidFill>
          <a:latin typeface="SimSun" panose="02010600030101010101" pitchFamily="2" charset="-122"/>
          <a:ea typeface="SimSun" panose="02010600030101010101" pitchFamily="2" charset="-122"/>
          <a:cs typeface="+mj-cs"/>
        </a:defRPr>
      </a:lvl1pPr>
      <a:lvl2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2pPr>
      <a:lvl3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3pPr>
      <a:lvl4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4pPr>
      <a:lvl5pPr algn="l" rtl="0" eaLnBrk="0" fontAlgn="base" hangingPunct="0">
        <a:lnSpc>
          <a:spcPct val="90000"/>
        </a:lnSpc>
        <a:spcBef>
          <a:spcPct val="0"/>
        </a:spcBef>
        <a:spcAft>
          <a:spcPct val="0"/>
        </a:spcAft>
        <a:defRPr sz="4400">
          <a:solidFill>
            <a:srgbClr val="000000"/>
          </a:solidFill>
          <a:latin typeface="SimSun" panose="02010600030101010101" pitchFamily="2" charset="-122"/>
          <a:ea typeface="SimSun"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SimSun"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3.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70" name="图片 8"/>
          <p:cNvPicPr>
            <a:picLocks noChangeAspect="1"/>
          </p:cNvPicPr>
          <p:nvPr/>
        </p:nvPicPr>
        <p:blipFill>
          <a:blip r:embed="rId1"/>
          <a:stretch>
            <a:fillRect/>
          </a:stretch>
        </p:blipFill>
        <p:spPr>
          <a:xfrm>
            <a:off x="0" y="0"/>
            <a:ext cx="12192000" cy="6858000"/>
          </a:xfrm>
          <a:prstGeom prst="rect">
            <a:avLst/>
          </a:prstGeom>
          <a:noFill/>
          <a:ln w="9525">
            <a:noFill/>
          </a:ln>
        </p:spPr>
      </p:pic>
      <p:sp>
        <p:nvSpPr>
          <p:cNvPr id="10" name="Freeform 5"/>
          <p:cNvSpPr>
            <a:spLocks noEditPoints="1"/>
          </p:cNvSpPr>
          <p:nvPr/>
        </p:nvSpPr>
        <p:spPr bwMode="auto">
          <a:xfrm>
            <a:off x="1446213" y="2070100"/>
            <a:ext cx="2719388" cy="2717800"/>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1" name="文本框 15"/>
          <p:cNvSpPr txBox="1">
            <a:spLocks noChangeArrowheads="1"/>
          </p:cNvSpPr>
          <p:nvPr/>
        </p:nvSpPr>
        <p:spPr bwMode="auto">
          <a:xfrm>
            <a:off x="3981450" y="2368550"/>
            <a:ext cx="8077200"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tr-TR" altLang="en-US" sz="80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n-ea"/>
              </a:rPr>
              <a:t>Bilişim Hukuku</a:t>
            </a:r>
            <a:endParaRPr kumimoji="0" lang="tr-TR" altLang="en-US" sz="8000" b="1" i="0" u="none" strike="noStrike" kern="1200" cap="none" spc="0" normalizeH="0" baseline="0" noProof="0" dirty="0" smtClean="0">
              <a:ln>
                <a:noFill/>
              </a:ln>
              <a:solidFill>
                <a:schemeClr val="bg1"/>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n-ea"/>
            </a:endParaRPr>
          </a:p>
        </p:txBody>
      </p:sp>
      <p:grpSp>
        <p:nvGrpSpPr>
          <p:cNvPr id="7173" name="组合 11"/>
          <p:cNvGrpSpPr/>
          <p:nvPr/>
        </p:nvGrpSpPr>
        <p:grpSpPr>
          <a:xfrm>
            <a:off x="4271963" y="4086225"/>
            <a:ext cx="7392987" cy="77788"/>
            <a:chOff x="4905828" y="3767763"/>
            <a:chExt cx="5881083" cy="0"/>
          </a:xfrm>
        </p:grpSpPr>
        <p:cxnSp>
          <p:nvCxnSpPr>
            <p:cNvPr id="13" name="直接连接符 12"/>
            <p:cNvCxnSpPr/>
            <p:nvPr/>
          </p:nvCxnSpPr>
          <p:spPr>
            <a:xfrm>
              <a:off x="4905828" y="3767763"/>
              <a:ext cx="705932" cy="0"/>
            </a:xfrm>
            <a:prstGeom prst="line">
              <a:avLst/>
            </a:prstGeom>
            <a:ln w="19050" cap="rnd">
              <a:solidFill>
                <a:schemeClr val="bg1"/>
              </a:solidFill>
              <a:head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080979" y="3767763"/>
              <a:ext cx="705932" cy="0"/>
            </a:xfrm>
            <a:prstGeom prst="line">
              <a:avLst/>
            </a:prstGeom>
            <a:ln w="19050" cap="rnd">
              <a:solidFill>
                <a:schemeClr val="bg1"/>
              </a:solidFill>
              <a:headEnd type="none"/>
            </a:ln>
          </p:spPr>
          <p:style>
            <a:lnRef idx="1">
              <a:schemeClr val="accent1"/>
            </a:lnRef>
            <a:fillRef idx="0">
              <a:schemeClr val="accent1"/>
            </a:fillRef>
            <a:effectRef idx="0">
              <a:schemeClr val="accent1"/>
            </a:effectRef>
            <a:fontRef idx="minor">
              <a:schemeClr val="tx1"/>
            </a:fontRef>
          </p:style>
        </p:cxnSp>
      </p:grpSp>
      <p:sp>
        <p:nvSpPr>
          <p:cNvPr id="7174" name="文本框 12"/>
          <p:cNvSpPr txBox="1"/>
          <p:nvPr/>
        </p:nvSpPr>
        <p:spPr>
          <a:xfrm>
            <a:off x="3902075" y="3775075"/>
            <a:ext cx="8143875" cy="306388"/>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algn="ctr" eaLnBrk="1" hangingPunct="1">
              <a:lnSpc>
                <a:spcPct val="100000"/>
              </a:lnSpc>
              <a:spcBef>
                <a:spcPct val="0"/>
              </a:spcBef>
              <a:buNone/>
            </a:pPr>
            <a:r>
              <a:rPr lang="tr-TR" altLang="en-US" sz="1400" dirty="0">
                <a:solidFill>
                  <a:schemeClr val="bg1"/>
                </a:solidFill>
                <a:latin typeface="Microsoft YaHei" panose="020B0503020204020204" pitchFamily="34" charset="-122"/>
                <a:ea typeface="Microsoft YaHei" panose="020B0503020204020204" pitchFamily="34" charset="-122"/>
              </a:rPr>
              <a:t>Ünite 6 : E-Ticaret</a:t>
            </a:r>
            <a:endParaRPr lang="tr-TR" altLang="en-US" sz="1400" dirty="0">
              <a:solidFill>
                <a:schemeClr val="bg1"/>
              </a:solidFill>
              <a:latin typeface="Microsoft YaHei" panose="020B0503020204020204" pitchFamily="34" charset="-122"/>
              <a:ea typeface="Microsoft YaHei" panose="020B0503020204020204" pitchFamily="34" charset="-122"/>
            </a:endParaRPr>
          </a:p>
        </p:txBody>
      </p:sp>
      <p:sp>
        <p:nvSpPr>
          <p:cNvPr id="7175" name="文本框 12"/>
          <p:cNvSpPr txBox="1"/>
          <p:nvPr/>
        </p:nvSpPr>
        <p:spPr>
          <a:xfrm>
            <a:off x="8362950" y="6248400"/>
            <a:ext cx="2947988" cy="3079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algn="ctr" eaLnBrk="1" hangingPunct="1">
              <a:lnSpc>
                <a:spcPct val="100000"/>
              </a:lnSpc>
              <a:spcBef>
                <a:spcPct val="0"/>
              </a:spcBef>
              <a:buNone/>
            </a:pPr>
            <a:r>
              <a:rPr lang="tr-TR" altLang="en-US" sz="1400" dirty="0">
                <a:solidFill>
                  <a:schemeClr val="bg1"/>
                </a:solidFill>
                <a:latin typeface="Microsoft YaHei" panose="020B0503020204020204" pitchFamily="34" charset="-122"/>
                <a:ea typeface="Microsoft YaHei" panose="020B0503020204020204" pitchFamily="34" charset="-122"/>
              </a:rPr>
              <a:t>Öğr. Gör. Zafer SERİN</a:t>
            </a:r>
            <a:endParaRPr lang="tr-TR" altLang="en-US" sz="1400"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0" y="1588"/>
            <a:ext cx="12192000" cy="6858000"/>
          </a:xfrm>
          <a:prstGeom prst="rect">
            <a:avLst/>
          </a:prstGeom>
          <a:gradFill flip="none" rotWithShape="1">
            <a:gsLst>
              <a:gs pos="0">
                <a:srgbClr val="7A2EBC"/>
              </a:gs>
              <a:gs pos="100000">
                <a:srgbClr val="C21F0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 name="Freeform 5"/>
          <p:cNvSpPr>
            <a:spLocks noEditPoints="1"/>
          </p:cNvSpPr>
          <p:nvPr/>
        </p:nvSpPr>
        <p:spPr bwMode="auto">
          <a:xfrm>
            <a:off x="3843338" y="1323975"/>
            <a:ext cx="365125" cy="365125"/>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220" name="文本框 31"/>
          <p:cNvSpPr txBox="1"/>
          <p:nvPr/>
        </p:nvSpPr>
        <p:spPr>
          <a:xfrm>
            <a:off x="4164013" y="1276350"/>
            <a:ext cx="7773987"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2400" b="1" dirty="0">
                <a:solidFill>
                  <a:schemeClr val="bg1"/>
                </a:solidFill>
                <a:latin typeface="Microsoft YaHei" panose="020B0503020204020204" pitchFamily="34" charset="-122"/>
                <a:ea typeface="Microsoft YaHei" panose="020B0503020204020204" pitchFamily="34" charset="-122"/>
              </a:rPr>
              <a:t> Elektronik Ortamda Sözleşmeler</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9221" name="文本框 31"/>
          <p:cNvSpPr txBox="1"/>
          <p:nvPr/>
        </p:nvSpPr>
        <p:spPr>
          <a:xfrm>
            <a:off x="4225925" y="2619375"/>
            <a:ext cx="7219950"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2400" b="1" dirty="0">
                <a:solidFill>
                  <a:schemeClr val="bg1"/>
                </a:solidFill>
                <a:latin typeface="Microsoft YaHei" panose="020B0503020204020204" pitchFamily="34" charset="-122"/>
                <a:ea typeface="Microsoft YaHei" panose="020B0503020204020204" pitchFamily="34" charset="-122"/>
              </a:rPr>
              <a:t>Elektronik Ortamda Reklamlar</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13" name="Freeform 5"/>
          <p:cNvSpPr>
            <a:spLocks noEditPoints="1"/>
          </p:cNvSpPr>
          <p:nvPr/>
        </p:nvSpPr>
        <p:spPr bwMode="auto">
          <a:xfrm>
            <a:off x="3848100" y="2714625"/>
            <a:ext cx="365125" cy="365125"/>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9223" name="文本框 31"/>
          <p:cNvSpPr txBox="1"/>
          <p:nvPr/>
        </p:nvSpPr>
        <p:spPr>
          <a:xfrm>
            <a:off x="4225925" y="3963988"/>
            <a:ext cx="7727950"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2400" b="1" dirty="0">
                <a:solidFill>
                  <a:schemeClr val="bg1"/>
                </a:solidFill>
                <a:latin typeface="Microsoft YaHei" panose="020B0503020204020204" pitchFamily="34" charset="-122"/>
                <a:ea typeface="Microsoft YaHei" panose="020B0503020204020204" pitchFamily="34" charset="-122"/>
              </a:rPr>
              <a:t>Elektronik Ortamda Haksız Rekabet</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14" name="Freeform 5"/>
          <p:cNvSpPr>
            <a:spLocks noEditPoints="1"/>
          </p:cNvSpPr>
          <p:nvPr/>
        </p:nvSpPr>
        <p:spPr bwMode="auto">
          <a:xfrm>
            <a:off x="3798888" y="4041775"/>
            <a:ext cx="365125" cy="365125"/>
          </a:xfrm>
          <a:custGeom>
            <a:avLst/>
            <a:gdLst>
              <a:gd name="T0" fmla="*/ 741 w 1482"/>
              <a:gd name="T1" fmla="*/ 969 h 1482"/>
              <a:gd name="T2" fmla="*/ 513 w 1482"/>
              <a:gd name="T3" fmla="*/ 741 h 1482"/>
              <a:gd name="T4" fmla="*/ 741 w 1482"/>
              <a:gd name="T5" fmla="*/ 513 h 1482"/>
              <a:gd name="T6" fmla="*/ 969 w 1482"/>
              <a:gd name="T7" fmla="*/ 741 h 1482"/>
              <a:gd name="T8" fmla="*/ 741 w 1482"/>
              <a:gd name="T9" fmla="*/ 969 h 1482"/>
              <a:gd name="T10" fmla="*/ 617 w 1482"/>
              <a:gd name="T11" fmla="*/ 390 h 1482"/>
              <a:gd name="T12" fmla="*/ 484 w 1482"/>
              <a:gd name="T13" fmla="*/ 257 h 1482"/>
              <a:gd name="T14" fmla="*/ 0 w 1482"/>
              <a:gd name="T15" fmla="*/ 741 h 1482"/>
              <a:gd name="T16" fmla="*/ 741 w 1482"/>
              <a:gd name="T17" fmla="*/ 1482 h 1482"/>
              <a:gd name="T18" fmla="*/ 874 w 1482"/>
              <a:gd name="T19" fmla="*/ 1349 h 1482"/>
              <a:gd name="T20" fmla="*/ 266 w 1482"/>
              <a:gd name="T21" fmla="*/ 741 h 1482"/>
              <a:gd name="T22" fmla="*/ 617 w 1482"/>
              <a:gd name="T23" fmla="*/ 390 h 1482"/>
              <a:gd name="T24" fmla="*/ 864 w 1482"/>
              <a:gd name="T25" fmla="*/ 1093 h 1482"/>
              <a:gd name="T26" fmla="*/ 997 w 1482"/>
              <a:gd name="T27" fmla="*/ 1226 h 1482"/>
              <a:gd name="T28" fmla="*/ 1482 w 1482"/>
              <a:gd name="T29" fmla="*/ 741 h 1482"/>
              <a:gd name="T30" fmla="*/ 741 w 1482"/>
              <a:gd name="T31" fmla="*/ 0 h 1482"/>
              <a:gd name="T32" fmla="*/ 608 w 1482"/>
              <a:gd name="T33" fmla="*/ 133 h 1482"/>
              <a:gd name="T34" fmla="*/ 1216 w 1482"/>
              <a:gd name="T35" fmla="*/ 741 h 1482"/>
              <a:gd name="T36" fmla="*/ 864 w 1482"/>
              <a:gd name="T37" fmla="*/ 109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2" h="1482">
                <a:moveTo>
                  <a:pt x="741" y="969"/>
                </a:moveTo>
                <a:lnTo>
                  <a:pt x="513" y="741"/>
                </a:lnTo>
                <a:lnTo>
                  <a:pt x="741" y="513"/>
                </a:lnTo>
                <a:lnTo>
                  <a:pt x="969" y="741"/>
                </a:lnTo>
                <a:lnTo>
                  <a:pt x="741" y="969"/>
                </a:lnTo>
                <a:close/>
                <a:moveTo>
                  <a:pt x="617" y="390"/>
                </a:moveTo>
                <a:lnTo>
                  <a:pt x="484" y="257"/>
                </a:lnTo>
                <a:lnTo>
                  <a:pt x="0" y="741"/>
                </a:lnTo>
                <a:lnTo>
                  <a:pt x="741" y="1482"/>
                </a:lnTo>
                <a:lnTo>
                  <a:pt x="874" y="1349"/>
                </a:lnTo>
                <a:lnTo>
                  <a:pt x="266" y="741"/>
                </a:lnTo>
                <a:lnTo>
                  <a:pt x="617" y="390"/>
                </a:lnTo>
                <a:close/>
                <a:moveTo>
                  <a:pt x="864" y="1093"/>
                </a:moveTo>
                <a:lnTo>
                  <a:pt x="997" y="1226"/>
                </a:lnTo>
                <a:lnTo>
                  <a:pt x="1482" y="741"/>
                </a:lnTo>
                <a:lnTo>
                  <a:pt x="741" y="0"/>
                </a:lnTo>
                <a:lnTo>
                  <a:pt x="608" y="133"/>
                </a:lnTo>
                <a:lnTo>
                  <a:pt x="1216" y="741"/>
                </a:lnTo>
                <a:lnTo>
                  <a:pt x="864" y="1093"/>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pic>
        <p:nvPicPr>
          <p:cNvPr id="22" name="图片 21"/>
          <p:cNvPicPr>
            <a:picLocks noChangeAspect="1"/>
          </p:cNvPicPr>
          <p:nvPr/>
        </p:nvPicPr>
        <p:blipFill>
          <a:blip r:embed="rId1"/>
          <a:srcRect/>
          <a:stretch>
            <a:fillRect/>
          </a:stretch>
        </p:blipFill>
        <p:spPr>
          <a:xfrm>
            <a:off x="276800" y="1830563"/>
            <a:ext cx="3200677" cy="3200677"/>
          </a:xfrm>
          <a:custGeom>
            <a:avLst/>
            <a:gdLst>
              <a:gd name="connsiteX0" fmla="*/ 1607291 w 3200677"/>
              <a:gd name="connsiteY0" fmla="*/ 897633 h 3200677"/>
              <a:gd name="connsiteX1" fmla="*/ 870691 w 3200677"/>
              <a:gd name="connsiteY1" fmla="*/ 1634233 h 3200677"/>
              <a:gd name="connsiteX2" fmla="*/ 1607291 w 3200677"/>
              <a:gd name="connsiteY2" fmla="*/ 2370833 h 3200677"/>
              <a:gd name="connsiteX3" fmla="*/ 2343891 w 3200677"/>
              <a:gd name="connsiteY3" fmla="*/ 1634233 h 3200677"/>
              <a:gd name="connsiteX4" fmla="*/ 0 w 3200677"/>
              <a:gd name="connsiteY4" fmla="*/ 0 h 3200677"/>
              <a:gd name="connsiteX5" fmla="*/ 3200677 w 3200677"/>
              <a:gd name="connsiteY5" fmla="*/ 0 h 3200677"/>
              <a:gd name="connsiteX6" fmla="*/ 3200677 w 3200677"/>
              <a:gd name="connsiteY6" fmla="*/ 3200677 h 3200677"/>
              <a:gd name="connsiteX7" fmla="*/ 0 w 3200677"/>
              <a:gd name="connsiteY7" fmla="*/ 3200677 h 3200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00677" h="3200677">
                <a:moveTo>
                  <a:pt x="1607291" y="897633"/>
                </a:moveTo>
                <a:lnTo>
                  <a:pt x="870691" y="1634233"/>
                </a:lnTo>
                <a:lnTo>
                  <a:pt x="1607291" y="2370833"/>
                </a:lnTo>
                <a:lnTo>
                  <a:pt x="2343891" y="1634233"/>
                </a:lnTo>
                <a:close/>
                <a:moveTo>
                  <a:pt x="0" y="0"/>
                </a:moveTo>
                <a:lnTo>
                  <a:pt x="3200677" y="0"/>
                </a:lnTo>
                <a:lnTo>
                  <a:pt x="3200677" y="3200677"/>
                </a:lnTo>
                <a:lnTo>
                  <a:pt x="0" y="3200677"/>
                </a:lnTo>
                <a:close/>
              </a:path>
            </a:pathLst>
          </a:custGeom>
        </p:spPr>
      </p:pic>
      <p:sp>
        <p:nvSpPr>
          <p:cNvPr id="9226" name="文本框 31"/>
          <p:cNvSpPr txBox="1"/>
          <p:nvPr/>
        </p:nvSpPr>
        <p:spPr>
          <a:xfrm>
            <a:off x="917575" y="3200400"/>
            <a:ext cx="1920875" cy="46037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algn="ctr" eaLnBrk="1" hangingPunct="1">
              <a:lnSpc>
                <a:spcPct val="100000"/>
              </a:lnSpc>
              <a:spcBef>
                <a:spcPct val="0"/>
              </a:spcBef>
              <a:buNone/>
            </a:pPr>
            <a:r>
              <a:rPr lang="tr-TR" altLang="zh-CN" sz="2400" b="1" dirty="0">
                <a:solidFill>
                  <a:schemeClr val="bg1"/>
                </a:solidFill>
                <a:latin typeface="Microsoft YaHei" panose="020B0503020204020204" pitchFamily="34" charset="-122"/>
                <a:ea typeface="Microsoft YaHei" panose="020B0503020204020204" pitchFamily="34" charset="-122"/>
              </a:rPr>
              <a:t>Konular</a:t>
            </a:r>
            <a:endParaRPr lang="tr-TR" altLang="zh-CN" sz="2400" b="1"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7"/>
          <p:cNvSpPr>
            <a:spLocks noGrp="1"/>
          </p:cNvSpPr>
          <p:nvPr>
            <p:ph type="title"/>
          </p:nvPr>
        </p:nvSpPr>
        <p:spPr/>
        <p:txBody>
          <a:bodyPr vert="horz" wrap="square" lIns="91440" tIns="45720" rIns="91440" bIns="45720" anchor="ctr" anchorCtr="0"/>
          <a:p>
            <a:pPr eaLnBrk="1" hangingPunct="1"/>
            <a:endParaRPr lang="en-US" altLang="zh-CN" dirty="0"/>
          </a:p>
        </p:txBody>
      </p:sp>
      <p:sp>
        <p:nvSpPr>
          <p:cNvPr id="2" name="矩形 1"/>
          <p:cNvSpPr/>
          <p:nvPr/>
        </p:nvSpPr>
        <p:spPr>
          <a:xfrm>
            <a:off x="0" y="0"/>
            <a:ext cx="12192000" cy="6858000"/>
          </a:xfrm>
          <a:prstGeom prst="rect">
            <a:avLst/>
          </a:prstGeom>
          <a:gradFill flip="none" rotWithShape="1">
            <a:gsLst>
              <a:gs pos="0">
                <a:srgbClr val="7A2EBC"/>
              </a:gs>
              <a:gs pos="100000">
                <a:srgbClr val="C21F0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r>
              <a:rPr lang="en-US" altLang="zh-CN" sz="4000" b="1" dirty="0">
                <a:solidFill>
                  <a:schemeClr val="bg1"/>
                </a:solidFill>
                <a:latin typeface="Microsoft YaHei" panose="020B0503020204020204" pitchFamily="34" charset="-122"/>
                <a:ea typeface="Microsoft YaHei" panose="020B0503020204020204" pitchFamily="34" charset="-122"/>
                <a:sym typeface="+mn-ea"/>
              </a:rPr>
              <a:t> Elektronik Ortamda Reklamlar</a:t>
            </a:r>
            <a:endParaRPr lang="en-US" altLang="tr-TR" sz="4000" dirty="0">
              <a:solidFill>
                <a:schemeClr val="bg1"/>
              </a:solidFill>
              <a:latin typeface="Microsoft YaHei" panose="020B0503020204020204" pitchFamily="34" charset="-122"/>
              <a:ea typeface="Microsoft YaHei" panose="020B0503020204020204" pitchFamily="34" charset="-122"/>
              <a:sym typeface="+mn-ea"/>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126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1268" name="Content Placeholder 2"/>
          <p:cNvSpPr>
            <a:spLocks noGrp="1"/>
          </p:cNvSpPr>
          <p:nvPr>
            <p:ph idx="1" hasCustomPrompt="1"/>
          </p:nvPr>
        </p:nvSpPr>
        <p:spPr>
          <a:xfrm>
            <a:off x="838200" y="1252538"/>
            <a:ext cx="10515600" cy="43513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İnternet, </a:t>
            </a:r>
            <a:r>
              <a:rPr lang="tr-TR" altLang="en-US" b="1" kern="1200" dirty="0">
                <a:latin typeface="+mn-lt"/>
                <a:ea typeface="SimSun" panose="02010600030101010101" pitchFamily="2" charset="-122"/>
                <a:cs typeface="+mn-cs"/>
              </a:rPr>
              <a:t>ticaret </a:t>
            </a:r>
            <a:r>
              <a:rPr lang="tr-TR" altLang="en-US" kern="1200" dirty="0">
                <a:latin typeface="+mn-lt"/>
                <a:ea typeface="SimSun" panose="02010600030101010101" pitchFamily="2" charset="-122"/>
                <a:cs typeface="+mn-cs"/>
              </a:rPr>
              <a:t>yapanlar için yeni bir reklam imkânı olarak algılanmıştır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 zamanla reklam fonksiyonunun ötesine geçmiş, bir </a:t>
            </a:r>
            <a:r>
              <a:rPr lang="tr-TR" altLang="en-US" b="1" kern="1200" dirty="0">
                <a:latin typeface="+mn-lt"/>
                <a:ea typeface="SimSun" panose="02010600030101010101" pitchFamily="2" charset="-122"/>
                <a:cs typeface="+mn-cs"/>
              </a:rPr>
              <a:t>pazar yeri</a:t>
            </a:r>
            <a:r>
              <a:rPr lang="tr-TR" altLang="en-US" kern="1200" dirty="0">
                <a:latin typeface="+mn-lt"/>
                <a:ea typeface="SimSun" panose="02010600030101010101" pitchFamily="2" charset="-122"/>
                <a:cs typeface="+mn-cs"/>
              </a:rPr>
              <a:t> olarak işlev görmeye başlamıştır</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331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3316"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Araştırmalara göre televizyonun 13 yılda, radyonun 38 yılda geçirdiği aşamayı İnternet </a:t>
            </a:r>
            <a:r>
              <a:rPr lang="tr-TR" altLang="en-US" b="1" kern="1200" dirty="0">
                <a:latin typeface="+mn-lt"/>
                <a:ea typeface="SimSun" panose="02010600030101010101" pitchFamily="2" charset="-122"/>
                <a:cs typeface="+mn-cs"/>
              </a:rPr>
              <a:t>sadece 5 yılda </a:t>
            </a:r>
            <a:r>
              <a:rPr lang="tr-TR" altLang="en-US" kern="1200" dirty="0">
                <a:latin typeface="+mn-lt"/>
                <a:ea typeface="SimSun" panose="02010600030101010101" pitchFamily="2" charset="-122"/>
                <a:cs typeface="+mn-cs"/>
              </a:rPr>
              <a:t>geçirmiş ve bir reklam mecrası olmayı başarabilmiştir.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Reklam, bir ürün ya da görüşün iletişim araçları ile kişisel olmayan bir biçimde kitlelere aktarılmasıdır.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Maliyetler diğer mecralara göre son derece </a:t>
            </a:r>
            <a:r>
              <a:rPr lang="tr-TR" altLang="en-US" b="1" kern="1200" dirty="0">
                <a:latin typeface="+mn-lt"/>
                <a:ea typeface="SimSun" panose="02010600030101010101" pitchFamily="2" charset="-122"/>
                <a:cs typeface="+mn-cs"/>
              </a:rPr>
              <a:t>ucuz</a:t>
            </a:r>
            <a:r>
              <a:rPr lang="tr-TR" altLang="en-US" kern="1200" dirty="0">
                <a:latin typeface="+mn-lt"/>
                <a:ea typeface="SimSun" panose="02010600030101010101" pitchFamily="2" charset="-122"/>
                <a:cs typeface="+mn-cs"/>
              </a:rPr>
              <a:t>dur ve reklamın etkisi bu mecrada </a:t>
            </a:r>
            <a:r>
              <a:rPr lang="tr-TR" altLang="en-US" b="1" kern="1200" dirty="0">
                <a:latin typeface="+mn-lt"/>
                <a:ea typeface="SimSun" panose="02010600030101010101" pitchFamily="2" charset="-122"/>
                <a:cs typeface="+mn-cs"/>
              </a:rPr>
              <a:t>daha kolay ölçülebilme</a:t>
            </a:r>
            <a:r>
              <a:rPr lang="tr-TR" altLang="en-US" kern="1200" dirty="0">
                <a:latin typeface="+mn-lt"/>
                <a:ea typeface="SimSun" panose="02010600030101010101" pitchFamily="2" charset="-122"/>
                <a:cs typeface="+mn-cs"/>
              </a:rPr>
              <a:t>ktedir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536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5364"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Ya bir arama motorundan ya da bir reklam banner’ini tıklayarak reklama ulaşırlar. Yahut da ilgilendiği konuların takibi sebebiyle bu muhataplara ilgilendiği mal ya da ürünlerin reklamları gelmektedir.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pic>
        <p:nvPicPr>
          <p:cNvPr id="15365" name="Picture 3" descr="untitled"/>
          <p:cNvPicPr>
            <a:picLocks noChangeAspect="1"/>
          </p:cNvPicPr>
          <p:nvPr/>
        </p:nvPicPr>
        <p:blipFill>
          <a:blip r:embed="rId2"/>
          <a:stretch>
            <a:fillRect/>
          </a:stretch>
        </p:blipFill>
        <p:spPr>
          <a:xfrm>
            <a:off x="2806700" y="3055938"/>
            <a:ext cx="5334000" cy="2968625"/>
          </a:xfrm>
          <a:prstGeom prst="rect">
            <a:avLst/>
          </a:prstGeom>
          <a:noFill/>
          <a:ln w="9525">
            <a:noFill/>
          </a:ln>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741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7412"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Banner</a:t>
            </a:r>
            <a:r>
              <a:rPr lang="tr-TR" altLang="en-US" kern="1200" dirty="0">
                <a:latin typeface="+mn-lt"/>
                <a:ea typeface="SimSun" panose="02010600030101010101" pitchFamily="2" charset="-122"/>
                <a:cs typeface="+mn-cs"/>
              </a:rPr>
              <a:t> : </a:t>
            </a:r>
            <a:r>
              <a:rPr lang="tr-TR" altLang="en-US" b="1" kern="1200" dirty="0">
                <a:latin typeface="+mn-lt"/>
                <a:ea typeface="SimSun" panose="02010600030101010101" pitchFamily="2" charset="-122"/>
                <a:cs typeface="+mn-cs"/>
              </a:rPr>
              <a:t>Reklam ve tanıtım</a:t>
            </a:r>
            <a:r>
              <a:rPr lang="tr-TR" altLang="en-US" kern="1200" dirty="0">
                <a:latin typeface="+mn-lt"/>
                <a:ea typeface="SimSun" panose="02010600030101010101" pitchFamily="2" charset="-122"/>
                <a:cs typeface="+mn-cs"/>
              </a:rPr>
              <a:t> amaçlı hazırlanan, web siteleri ile gazetelerde başlık ya da alt kısmında yer alabilecek ölçülerde ya da </a:t>
            </a:r>
            <a:r>
              <a:rPr lang="tr-TR" altLang="en-US" b="1" kern="1200" dirty="0">
                <a:latin typeface="+mn-lt"/>
                <a:ea typeface="SimSun" panose="02010600030101010101" pitchFamily="2" charset="-122"/>
                <a:cs typeface="+mn-cs"/>
              </a:rPr>
              <a:t>afiş </a:t>
            </a:r>
            <a:r>
              <a:rPr lang="tr-TR" altLang="en-US" kern="1200" dirty="0">
                <a:latin typeface="+mn-lt"/>
                <a:ea typeface="SimSun" panose="02010600030101010101" pitchFamily="2" charset="-122"/>
                <a:cs typeface="+mn-cs"/>
              </a:rPr>
              <a:t>olarak, tasarlanmış kurumsal iletişim öğesidir.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Bannerlar genelde logo ile bütünleşik olarak kullanılır. Siteyi görsel açıdan zenginleştirdiği gibi ziyaretçileri de olumlu yönde yönlendirmek için kullanılır.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Hareketli bannerlar genelde .gif veya .swf (flash) uzantılarına sahip olurlar.</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1945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19460"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Reklamın niteliğinde bir değişiklik olmamakla birlikte İnternet teknolojisinin gelişmesi ile birlikte icrasında birtakım değişiklikler meydana gelmiştir.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Seyredilen bir film ya da dizide aktörlerin giydikleri elbiselerin fareyi üzerine getirdiğimizde </a:t>
            </a:r>
            <a:r>
              <a:rPr lang="tr-TR" altLang="en-US" b="1" kern="1200" dirty="0">
                <a:latin typeface="+mn-lt"/>
                <a:ea typeface="SimSun" panose="02010600030101010101" pitchFamily="2" charset="-122"/>
                <a:cs typeface="+mn-cs"/>
              </a:rPr>
              <a:t>marka ve fiyatının öğrenilebilmesi</a:t>
            </a:r>
            <a:r>
              <a:rPr lang="tr-TR" altLang="en-US" kern="1200" dirty="0">
                <a:latin typeface="+mn-lt"/>
                <a:ea typeface="SimSun" panose="02010600030101010101" pitchFamily="2" charset="-122"/>
                <a:cs typeface="+mn-cs"/>
              </a:rPr>
              <a:t>nden, </a:t>
            </a:r>
            <a:r>
              <a:rPr lang="tr-TR" altLang="en-US" b="1" kern="1200" dirty="0">
                <a:latin typeface="+mn-lt"/>
                <a:ea typeface="SimSun" panose="02010600030101010101" pitchFamily="2" charset="-122"/>
                <a:cs typeface="+mn-cs"/>
              </a:rPr>
              <a:t>çerez </a:t>
            </a:r>
            <a:r>
              <a:rPr lang="tr-TR" altLang="en-US" kern="1200" dirty="0">
                <a:latin typeface="+mn-lt"/>
                <a:ea typeface="SimSun" panose="02010600030101010101" pitchFamily="2" charset="-122"/>
                <a:cs typeface="+mn-cs"/>
              </a:rPr>
              <a:t>tabir edilen bilgilerin izinde </a:t>
            </a:r>
            <a:r>
              <a:rPr lang="tr-TR" altLang="en-US" b="1" kern="1200" dirty="0">
                <a:latin typeface="+mn-lt"/>
                <a:ea typeface="SimSun" panose="02010600030101010101" pitchFamily="2" charset="-122"/>
                <a:cs typeface="+mn-cs"/>
              </a:rPr>
              <a:t>doğrudan hedefe yapılan reklamlar</a:t>
            </a:r>
            <a:r>
              <a:rPr lang="tr-TR" altLang="en-US" kern="1200" dirty="0">
                <a:latin typeface="+mn-lt"/>
                <a:ea typeface="SimSun" panose="02010600030101010101" pitchFamily="2" charset="-122"/>
                <a:cs typeface="+mn-cs"/>
              </a:rPr>
              <a:t> ve Google’ın </a:t>
            </a:r>
            <a:r>
              <a:rPr lang="tr-TR" altLang="en-US" b="1" kern="1200" dirty="0">
                <a:latin typeface="+mn-lt"/>
                <a:ea typeface="SimSun" panose="02010600030101010101" pitchFamily="2" charset="-122"/>
                <a:cs typeface="+mn-cs"/>
              </a:rPr>
              <a:t>adwords</a:t>
            </a:r>
            <a:r>
              <a:rPr lang="tr-TR" altLang="en-US" kern="1200" dirty="0">
                <a:latin typeface="+mn-lt"/>
                <a:ea typeface="SimSun" panose="02010600030101010101" pitchFamily="2" charset="-122"/>
                <a:cs typeface="+mn-cs"/>
              </a:rPr>
              <a:t> reklam sistemi.</a:t>
            </a:r>
            <a:endParaRPr lang="tr-TR" altLang="en-US" kern="1200" dirty="0">
              <a:latin typeface="+mn-lt"/>
              <a:ea typeface="SimSun" panose="02010600030101010101" pitchFamily="2" charset="-122"/>
              <a:cs typeface="+mn-cs"/>
            </a:endParaRPr>
          </a:p>
        </p:txBody>
      </p:sp>
      <p:sp>
        <p:nvSpPr>
          <p:cNvPr id="19461" name="Text Box 2"/>
          <p:cNvSpPr txBox="1"/>
          <p:nvPr/>
        </p:nvSpPr>
        <p:spPr>
          <a:xfrm>
            <a:off x="704850" y="639763"/>
            <a:ext cx="4968875"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 İnternet Reklam Türleri </a:t>
            </a:r>
            <a:endParaRPr lang="en-US" altLang="zh-CN" b="1" dirty="0">
              <a:solidFill>
                <a:schemeClr val="bg1"/>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150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1508"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Bazı alanlarda reklamlara ilişkin özel düzenlemeler vardır. Örneğin radyo ve televizyonlarda yayınlanan reklamlara ilişkin genel bir kanuni çerçeve vardır (6112 sayılı Radyo ve Televizyon Kuruluş ve Yayın Hizmetleri Hakkında Kanun, m. 10 vd)</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Elektronik ortamdaki reklamlar, tek bir </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er</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eve kanun yerine, birbiriyle ili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kili birden fazla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zel mevzuatla (E-Ticaret Kanunu, KVKK,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 Kanunu vb.) 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zenlenmi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tir. Bu da</a:t>
            </a:r>
            <a:r>
              <a:rPr lang="en-US" altLang="en-US" kern="1200" dirty="0">
                <a:latin typeface="+mn-lt"/>
                <a:ea typeface="SimSun" panose="02010600030101010101" pitchFamily="2" charset="-122"/>
                <a:cs typeface="+mn-cs"/>
              </a:rPr>
              <a:t>ğı</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 yap</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konunun hem teknik hem de hukuki karma</a:t>
            </a:r>
            <a:r>
              <a:rPr lang="en-US" altLang="en-US" kern="1200" dirty="0">
                <a:latin typeface="+mn-lt"/>
                <a:ea typeface="SimSun" panose="02010600030101010101" pitchFamily="2" charset="-122"/>
                <a:cs typeface="+mn-cs"/>
              </a:rPr>
              <a:t>şı</a:t>
            </a:r>
            <a:r>
              <a:rPr lang="en-US" altLang="tr-TR" kern="1200" dirty="0">
                <a:latin typeface="+mn-lt"/>
                <a:ea typeface="SimSun" panose="02010600030101010101" pitchFamily="2" charset="-122"/>
                <a:cs typeface="+mn-cs"/>
              </a:rPr>
              <a:t>kl</a:t>
            </a:r>
            <a:r>
              <a:rPr lang="en-US"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ndan kaynaklan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tr-TR" altLang="en-US" kern="1200" dirty="0">
              <a:latin typeface="+mn-lt"/>
              <a:ea typeface="SimSun" panose="02010600030101010101" pitchFamily="2" charset="-122"/>
              <a:cs typeface="+mn-cs"/>
            </a:endParaRPr>
          </a:p>
        </p:txBody>
      </p:sp>
      <p:sp>
        <p:nvSpPr>
          <p:cNvPr id="21509" name="Text Box 2"/>
          <p:cNvSpPr txBox="1"/>
          <p:nvPr/>
        </p:nvSpPr>
        <p:spPr>
          <a:xfrm>
            <a:off x="704850" y="639763"/>
            <a:ext cx="10267950" cy="5219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Elektronik Ortamdaki Reklamlara İlişkin</a:t>
            </a:r>
            <a:r>
              <a:rPr lang="tr-TR" altLang="en-US" b="1" dirty="0">
                <a:solidFill>
                  <a:schemeClr val="bg1"/>
                </a:solidFill>
              </a:rPr>
              <a:t> </a:t>
            </a:r>
            <a:r>
              <a:rPr lang="en-US" altLang="zh-CN" b="1" dirty="0">
                <a:solidFill>
                  <a:schemeClr val="bg1"/>
                </a:solidFill>
              </a:rPr>
              <a:t>Hukuki Çerçeve </a:t>
            </a:r>
            <a:endParaRPr lang="en-US" altLang="zh-CN" b="1" dirty="0">
              <a:solidFill>
                <a:schemeClr val="bg1"/>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355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3556"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Bazı ürünler</a:t>
            </a:r>
            <a:r>
              <a:rPr lang="tr-TR" altLang="en-US" kern="1200" dirty="0">
                <a:latin typeface="+mn-lt"/>
                <a:ea typeface="SimSun" panose="02010600030101010101" pitchFamily="2" charset="-122"/>
                <a:cs typeface="+mn-cs"/>
              </a:rPr>
              <a:t>in reklamlarının yapılması da </a:t>
            </a:r>
            <a:r>
              <a:rPr lang="tr-TR" altLang="en-US" b="1" kern="1200" dirty="0">
                <a:latin typeface="+mn-lt"/>
                <a:ea typeface="SimSun" panose="02010600030101010101" pitchFamily="2" charset="-122"/>
                <a:cs typeface="+mn-cs"/>
              </a:rPr>
              <a:t>yasak</a:t>
            </a:r>
            <a:r>
              <a:rPr lang="tr-TR" altLang="en-US" kern="1200" dirty="0">
                <a:latin typeface="+mn-lt"/>
                <a:ea typeface="SimSun" panose="02010600030101010101" pitchFamily="2" charset="-122"/>
                <a:cs typeface="+mn-cs"/>
              </a:rPr>
              <a:t>tır. Bu çerçevede bu tür ürünlerin reklamlarının İnternet ortamında yapılması da sınırlandırılmıştır. Yine İnternetteki reklamlara ilişkin diğer bir sınırlama da bazı </a:t>
            </a:r>
            <a:r>
              <a:rPr lang="tr-TR" altLang="en-US" b="1" kern="1200" dirty="0">
                <a:latin typeface="+mn-lt"/>
                <a:ea typeface="SimSun" panose="02010600030101010101" pitchFamily="2" charset="-122"/>
                <a:cs typeface="+mn-cs"/>
              </a:rPr>
              <a:t>meslek</a:t>
            </a:r>
            <a:r>
              <a:rPr lang="tr-TR" altLang="en-US" kern="1200" dirty="0">
                <a:latin typeface="+mn-lt"/>
                <a:ea typeface="SimSun" panose="02010600030101010101" pitchFamily="2" charset="-122"/>
                <a:cs typeface="+mn-cs"/>
              </a:rPr>
              <a:t>lere ilişkindir</a:t>
            </a:r>
            <a:endParaRPr lang="tr-TR" altLang="en-US" kern="1200" dirty="0">
              <a:latin typeface="+mn-lt"/>
              <a:ea typeface="SimSun" panose="02010600030101010101" pitchFamily="2" charset="-122"/>
              <a:cs typeface="+mn-cs"/>
            </a:endParaRPr>
          </a:p>
        </p:txBody>
      </p:sp>
      <p:sp>
        <p:nvSpPr>
          <p:cNvPr id="23557" name="Text Box 2"/>
          <p:cNvSpPr txBox="1"/>
          <p:nvPr/>
        </p:nvSpPr>
        <p:spPr>
          <a:xfrm>
            <a:off x="70485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Elektronik Ortamdaki Reklamlara İlişkin Hukuki Hukuki Çerçeve </a:t>
            </a:r>
            <a:endParaRPr lang="en-US" altLang="zh-CN" b="1" dirty="0">
              <a:solidFill>
                <a:schemeClr val="bg1"/>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560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5604" name="Text Box 2"/>
          <p:cNvSpPr txBox="1"/>
          <p:nvPr/>
        </p:nvSpPr>
        <p:spPr>
          <a:xfrm>
            <a:off x="70485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Elektronik Ortamdaki Reklamlara İlişkin Hukuki Hukuki Çerçeve </a:t>
            </a:r>
            <a:endParaRPr lang="en-US" altLang="zh-CN" b="1" dirty="0">
              <a:solidFill>
                <a:schemeClr val="bg1"/>
              </a:solidFill>
            </a:endParaRPr>
          </a:p>
        </p:txBody>
      </p:sp>
      <p:graphicFrame>
        <p:nvGraphicFramePr>
          <p:cNvPr id="4" name="Diagram 3"/>
          <p:cNvGraphicFramePr/>
          <p:nvPr/>
        </p:nvGraphicFramePr>
        <p:xfrm>
          <a:off x="1646555" y="1162050"/>
          <a:ext cx="8128001" cy="5418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765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7652" name="Text Box 2"/>
          <p:cNvSpPr txBox="1"/>
          <p:nvPr/>
        </p:nvSpPr>
        <p:spPr>
          <a:xfrm>
            <a:off x="70485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Elektronik Ortamdaki Reklamlara İlişkin Hukuki Hukuki Çerçeve </a:t>
            </a:r>
            <a:endParaRPr lang="en-US" altLang="zh-CN" b="1" dirty="0">
              <a:solidFill>
                <a:schemeClr val="bg1"/>
              </a:solidFill>
            </a:endParaRPr>
          </a:p>
        </p:txBody>
      </p:sp>
      <p:sp>
        <p:nvSpPr>
          <p:cNvPr id="27653"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ortamda reklam yapmak için</a:t>
            </a:r>
            <a:r>
              <a:rPr lang="tr-TR" altLang="en-US" b="1" kern="1200" dirty="0">
                <a:latin typeface="+mn-lt"/>
                <a:ea typeface="SimSun" panose="02010600030101010101" pitchFamily="2" charset="-122"/>
                <a:cs typeface="+mn-cs"/>
              </a:rPr>
              <a:t> özel bir izne ihtiyaç bulunmaz.</a:t>
            </a:r>
            <a:r>
              <a:rPr lang="tr-TR" altLang="en-US" kern="1200" dirty="0">
                <a:latin typeface="+mn-lt"/>
                <a:ea typeface="SimSun" panose="02010600030101010101" pitchFamily="2" charset="-122"/>
                <a:cs typeface="+mn-cs"/>
              </a:rPr>
              <a:t> Radyo ya da televizyon mecrasında olduğu gibi elektronik mecraya özgü belirli </a:t>
            </a:r>
            <a:r>
              <a:rPr lang="tr-TR" altLang="en-US" b="1" kern="1200" dirty="0">
                <a:latin typeface="+mn-lt"/>
                <a:ea typeface="SimSun" panose="02010600030101010101" pitchFamily="2" charset="-122"/>
                <a:cs typeface="+mn-cs"/>
              </a:rPr>
              <a:t>kısıtlamalar da bulunmamaktadır</a:t>
            </a:r>
            <a:r>
              <a:rPr lang="tr-TR" altLang="en-US" kern="1200" dirty="0">
                <a:latin typeface="+mn-lt"/>
                <a:ea typeface="SimSun" panose="02010600030101010101" pitchFamily="2" charset="-122"/>
                <a:cs typeface="+mn-cs"/>
              </a:rPr>
              <a:t>.</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Bu nedenle İnternet ortamında </a:t>
            </a:r>
            <a:r>
              <a:rPr lang="tr-TR" altLang="en-US" b="1" kern="1200" dirty="0">
                <a:latin typeface="+mn-lt"/>
                <a:ea typeface="SimSun" panose="02010600030101010101" pitchFamily="2" charset="-122"/>
                <a:cs typeface="+mn-cs"/>
              </a:rPr>
              <a:t>reklam yapmak serbesttir</a:t>
            </a:r>
            <a:r>
              <a:rPr lang="tr-TR" altLang="en-US" kern="1200" dirty="0">
                <a:latin typeface="+mn-lt"/>
                <a:ea typeface="SimSun" panose="02010600030101010101" pitchFamily="2" charset="-122"/>
                <a:cs typeface="+mn-cs"/>
              </a:rPr>
              <a:t>. Ancak bu durum, İnternet ortamındaki reklamlar için hiçbir kuralın ya da sınırlamanın bulunmadığı anlamına da gelmemelidir.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İnternet ortamında reklam faaliyetleri için serbesti esası yanında uyulması  gereken </a:t>
            </a:r>
            <a:r>
              <a:rPr lang="tr-TR" altLang="en-US" b="1" kern="1200" dirty="0">
                <a:latin typeface="+mn-lt"/>
                <a:ea typeface="SimSun" panose="02010600030101010101" pitchFamily="2" charset="-122"/>
                <a:cs typeface="+mn-cs"/>
              </a:rPr>
              <a:t>genel ilkeler ve reklam yasakları</a:t>
            </a:r>
            <a:r>
              <a:rPr lang="tr-TR" altLang="en-US" kern="1200" dirty="0">
                <a:latin typeface="+mn-lt"/>
                <a:ea typeface="SimSun" panose="02010600030101010101" pitchFamily="2" charset="-122"/>
                <a:cs typeface="+mn-cs"/>
              </a:rPr>
              <a:t> da vardır.</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2969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29700"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Elektronik Ortamda Yapılacak Reklamlara İlişkin Genel İlkele</a:t>
            </a:r>
            <a:r>
              <a:rPr lang="tr-TR" altLang="en-US" b="1" dirty="0">
                <a:solidFill>
                  <a:schemeClr val="bg1"/>
                </a:solidFill>
              </a:rPr>
              <a:t>r</a:t>
            </a:r>
            <a:endParaRPr lang="tr-TR" altLang="en-US" b="1" dirty="0">
              <a:solidFill>
                <a:schemeClr val="bg1"/>
              </a:solidFill>
            </a:endParaRPr>
          </a:p>
        </p:txBody>
      </p:sp>
      <p:sp>
        <p:nvSpPr>
          <p:cNvPr id="29701"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a. Reklamların</a:t>
            </a:r>
            <a:r>
              <a:rPr lang="tr-TR" altLang="en-US" b="1" kern="1200" dirty="0">
                <a:latin typeface="+mn-lt"/>
                <a:ea typeface="SimSun" panose="02010600030101010101" pitchFamily="2" charset="-122"/>
                <a:cs typeface="+mn-cs"/>
              </a:rPr>
              <a:t> aldatıcı, yanıltıcı</a:t>
            </a:r>
            <a:r>
              <a:rPr lang="tr-TR" altLang="en-US" kern="1200" dirty="0">
                <a:latin typeface="+mn-lt"/>
                <a:ea typeface="SimSun" panose="02010600030101010101" pitchFamily="2" charset="-122"/>
                <a:cs typeface="+mn-cs"/>
              </a:rPr>
              <a:t> ve </a:t>
            </a:r>
            <a:r>
              <a:rPr lang="tr-TR" altLang="en-US" b="1" kern="1200" dirty="0">
                <a:latin typeface="+mn-lt"/>
                <a:ea typeface="SimSun" panose="02010600030101010101" pitchFamily="2" charset="-122"/>
                <a:cs typeface="+mn-cs"/>
              </a:rPr>
              <a:t>haksız rekabet</a:t>
            </a:r>
            <a:r>
              <a:rPr lang="tr-TR" altLang="en-US" kern="1200" dirty="0">
                <a:latin typeface="+mn-lt"/>
                <a:ea typeface="SimSun" panose="02010600030101010101" pitchFamily="2" charset="-122"/>
                <a:cs typeface="+mn-cs"/>
              </a:rPr>
              <a:t>e yol açar nitelikte olmaması,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 Karşılaştırmalı reklam yapılıyor ise </a:t>
            </a:r>
            <a:r>
              <a:rPr lang="tr-TR" altLang="en-US" b="1" kern="1200" dirty="0">
                <a:latin typeface="+mn-lt"/>
                <a:ea typeface="SimSun" panose="02010600030101010101" pitchFamily="2" charset="-122"/>
                <a:cs typeface="+mn-cs"/>
              </a:rPr>
              <a:t>karşılaştırılan ürünlerin aynı nitelikte olması </a:t>
            </a:r>
            <a:r>
              <a:rPr lang="tr-TR" altLang="en-US" kern="1200" dirty="0">
                <a:latin typeface="+mn-lt"/>
                <a:ea typeface="SimSun" panose="02010600030101010101" pitchFamily="2" charset="-122"/>
                <a:cs typeface="+mn-cs"/>
              </a:rPr>
              <a:t>ve müşteriye yarar karşılaştırmaların yapılması, karşılaştırılan hususların ölçülebilir olması,</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c. Reklamı yapılan mal ve hizmetlerin </a:t>
            </a:r>
            <a:r>
              <a:rPr lang="tr-TR" altLang="en-US" b="1" kern="1200" dirty="0">
                <a:latin typeface="+mn-lt"/>
                <a:ea typeface="SimSun" panose="02010600030101010101" pitchFamily="2" charset="-122"/>
                <a:cs typeface="+mn-cs"/>
              </a:rPr>
              <a:t>toplam bedeli hakkında yanıltıcı bilgilerin verilmemesi</a:t>
            </a:r>
            <a:r>
              <a:rPr lang="tr-TR" altLang="en-US" kern="1200" dirty="0">
                <a:latin typeface="+mn-lt"/>
                <a:ea typeface="SimSun" panose="02010600030101010101" pitchFamily="2" charset="-122"/>
                <a:cs typeface="+mn-cs"/>
              </a:rPr>
              <a:t>,</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d. Sayısal verilere dayanan reklam unsurlarının </a:t>
            </a:r>
            <a:r>
              <a:rPr lang="tr-TR" altLang="en-US" b="1" kern="1200" dirty="0">
                <a:latin typeface="+mn-lt"/>
                <a:ea typeface="SimSun" panose="02010600030101010101" pitchFamily="2" charset="-122"/>
                <a:cs typeface="+mn-cs"/>
              </a:rPr>
              <a:t>bilimsel test ve rapor</a:t>
            </a:r>
            <a:r>
              <a:rPr lang="tr-TR" altLang="en-US" kern="1200" dirty="0">
                <a:latin typeface="+mn-lt"/>
                <a:ea typeface="SimSun" panose="02010600030101010101" pitchFamily="2" charset="-122"/>
                <a:cs typeface="+mn-cs"/>
              </a:rPr>
              <a:t>lara dayanması,</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 Rakiplerin </a:t>
            </a:r>
            <a:r>
              <a:rPr lang="tr-TR" altLang="en-US" b="1" kern="1200" dirty="0">
                <a:latin typeface="+mn-lt"/>
                <a:ea typeface="SimSun" panose="02010600030101010101" pitchFamily="2" charset="-122"/>
                <a:cs typeface="+mn-cs"/>
              </a:rPr>
              <a:t>kötülenmemesi, karalanmaması</a:t>
            </a:r>
            <a:r>
              <a:rPr lang="tr-TR" altLang="en-US" kern="1200" dirty="0">
                <a:latin typeface="+mn-lt"/>
                <a:ea typeface="SimSun" panose="02010600030101010101" pitchFamily="2" charset="-122"/>
                <a:cs typeface="+mn-cs"/>
              </a:rPr>
              <a:t>,</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174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1748"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zh-CN" b="1" dirty="0">
                <a:solidFill>
                  <a:schemeClr val="bg1"/>
                </a:solidFill>
              </a:rPr>
              <a:t>Elektronik Ortamda Yapılacak Reklamlara İlişkin Genel İlkele</a:t>
            </a:r>
            <a:r>
              <a:rPr lang="tr-TR" altLang="en-US" b="1" dirty="0">
                <a:solidFill>
                  <a:schemeClr val="bg1"/>
                </a:solidFill>
              </a:rPr>
              <a:t>r</a:t>
            </a:r>
            <a:endParaRPr lang="tr-TR" altLang="en-US" b="1" dirty="0">
              <a:solidFill>
                <a:schemeClr val="bg1"/>
              </a:solidFill>
            </a:endParaRPr>
          </a:p>
        </p:txBody>
      </p:sp>
      <p:sp>
        <p:nvSpPr>
          <p:cNvPr id="31749"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f. Rakiplerin itibarından haksız yararlanmaya yol açılmaması,</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g. Örtülü reklamlarla </a:t>
            </a:r>
            <a:r>
              <a:rPr lang="tr-TR" altLang="en-US" b="1" kern="1200" dirty="0">
                <a:latin typeface="+mn-lt"/>
                <a:ea typeface="SimSun" panose="02010600030101010101" pitchFamily="2" charset="-122"/>
                <a:cs typeface="+mn-cs"/>
              </a:rPr>
              <a:t>bilinçaltı</a:t>
            </a:r>
            <a:r>
              <a:rPr lang="tr-TR" altLang="en-US" kern="1200" dirty="0">
                <a:latin typeface="+mn-lt"/>
                <a:ea typeface="SimSun" panose="02010600030101010101" pitchFamily="2" charset="-122"/>
                <a:cs typeface="+mn-cs"/>
              </a:rPr>
              <a:t> reklamların yapılmaması,</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h. Çocuklara yönelik reklamlarda onların zihni durumlarını sömürecek, onları gerçek dışı beklentilere ya da </a:t>
            </a:r>
            <a:r>
              <a:rPr lang="tr-TR" altLang="en-US" b="1" kern="1200" dirty="0">
                <a:latin typeface="+mn-lt"/>
                <a:ea typeface="SimSun" panose="02010600030101010101" pitchFamily="2" charset="-122"/>
                <a:cs typeface="+mn-cs"/>
              </a:rPr>
              <a:t>şiddet</a:t>
            </a:r>
            <a:r>
              <a:rPr lang="tr-TR" altLang="en-US" kern="1200" dirty="0">
                <a:latin typeface="+mn-lt"/>
                <a:ea typeface="SimSun" panose="02010600030101010101" pitchFamily="2" charset="-122"/>
                <a:cs typeface="+mn-cs"/>
              </a:rPr>
              <a:t>e itecek reklamlara yer verilmemesi,</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 Kişisel hesaplarına </a:t>
            </a:r>
            <a:r>
              <a:rPr lang="tr-TR" altLang="en-US" b="1" kern="1200" dirty="0">
                <a:latin typeface="+mn-lt"/>
                <a:ea typeface="SimSun" panose="02010600030101010101" pitchFamily="2" charset="-122"/>
                <a:cs typeface="+mn-cs"/>
              </a:rPr>
              <a:t>istenmeyen reklam içerikleri</a:t>
            </a:r>
            <a:r>
              <a:rPr lang="tr-TR" altLang="en-US" kern="1200" dirty="0">
                <a:latin typeface="+mn-lt"/>
                <a:ea typeface="SimSun" panose="02010600030101010101" pitchFamily="2" charset="-122"/>
                <a:cs typeface="+mn-cs"/>
              </a:rPr>
              <a:t>nin gönderilmemesi,</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j. Ki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isel verileri (</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erezler, e-posta, konum vb.) esas alan hedefli reklamlarda 6698 say</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KVKK uyar</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nca 'A</a:t>
            </a:r>
            <a:r>
              <a:rPr lang="en-US" altLang="en-US" kern="1200" dirty="0">
                <a:latin typeface="+mn-lt"/>
                <a:ea typeface="SimSun" panose="02010600030101010101" pitchFamily="2" charset="-122"/>
                <a:cs typeface="+mn-cs"/>
              </a:rPr>
              <a:t>çı</a:t>
            </a:r>
            <a:r>
              <a:rPr lang="en-US" altLang="tr-TR" kern="1200" dirty="0">
                <a:latin typeface="+mn-lt"/>
                <a:ea typeface="SimSun" panose="02010600030101010101" pitchFamily="2" charset="-122"/>
                <a:cs typeface="+mn-cs"/>
              </a:rPr>
              <a:t>k R</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za' al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nmas</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ve 'Ayd</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nlatma Y</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ml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ü</a:t>
            </a:r>
            <a:r>
              <a:rPr lang="en-US" altLang="en-US" kern="1200" dirty="0">
                <a:latin typeface="+mn-lt"/>
                <a:ea typeface="SimSun" panose="02010600030101010101" pitchFamily="2" charset="-122"/>
                <a:cs typeface="+mn-cs"/>
              </a:rPr>
              <a:t>ğ</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 yerine getirilmesi.</a:t>
            </a:r>
            <a:r>
              <a:rPr lang="tr-TR" altLang="en-US" kern="1200" dirty="0">
                <a:latin typeface="+mn-lt"/>
                <a:ea typeface="SimSun" panose="02010600030101010101" pitchFamily="2" charset="-122"/>
                <a:cs typeface="+mn-cs"/>
              </a:rPr>
              <a:t>,</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k. Bir başkasına ait fikri ya da sınai hakkın kullanımına riayet etmek,</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l. Ayrımcı, aşağılayıcı ya da saldırgan ifadelere reklamlarda yer verilmemesi</a:t>
            </a:r>
            <a:endParaRPr lang="tr-TR" altLang="en-US" kern="1200" dirty="0">
              <a:latin typeface="+mn-lt"/>
              <a:ea typeface="SimSun" panose="02010600030101010101" pitchFamily="2" charset="-122"/>
              <a:cs typeface="+mn-cs"/>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174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1748" name="Text Box 2"/>
          <p:cNvSpPr txBox="1"/>
          <p:nvPr/>
        </p:nvSpPr>
        <p:spPr>
          <a:xfrm>
            <a:off x="723900" y="639763"/>
            <a:ext cx="10267950" cy="5219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en-US" b="1" dirty="0">
                <a:solidFill>
                  <a:schemeClr val="bg1"/>
                </a:solidFill>
              </a:rPr>
              <a:t>Ö</a:t>
            </a:r>
            <a:r>
              <a:rPr lang="en-US" altLang="tr-TR" b="1" dirty="0">
                <a:solidFill>
                  <a:schemeClr val="bg1"/>
                </a:solidFill>
              </a:rPr>
              <a:t>rt</a:t>
            </a:r>
            <a:r>
              <a:rPr lang="en-US" altLang="en-US" b="1" dirty="0">
                <a:solidFill>
                  <a:schemeClr val="bg1"/>
                </a:solidFill>
              </a:rPr>
              <a:t>ü</a:t>
            </a:r>
            <a:r>
              <a:rPr lang="en-US" altLang="tr-TR" b="1" dirty="0">
                <a:solidFill>
                  <a:schemeClr val="bg1"/>
                </a:solidFill>
              </a:rPr>
              <a:t>l</a:t>
            </a:r>
            <a:r>
              <a:rPr lang="en-US" altLang="en-US" b="1" dirty="0">
                <a:solidFill>
                  <a:schemeClr val="bg1"/>
                </a:solidFill>
              </a:rPr>
              <a:t>ü</a:t>
            </a:r>
            <a:r>
              <a:rPr lang="en-US" altLang="tr-TR" b="1" dirty="0">
                <a:solidFill>
                  <a:schemeClr val="bg1"/>
                </a:solidFill>
              </a:rPr>
              <a:t> Reklam ve Sosyal Medya Etkileyicileri</a:t>
            </a:r>
            <a:endParaRPr lang="en-US" altLang="tr-TR" b="1" dirty="0">
              <a:solidFill>
                <a:schemeClr val="bg1"/>
              </a:solidFill>
            </a:endParaRPr>
          </a:p>
        </p:txBody>
      </p:sp>
      <p:sp>
        <p:nvSpPr>
          <p:cNvPr id="31749"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eaLnBrk="1" hangingPunct="1"/>
            <a:r>
              <a:rPr lang="en-US" altLang="tr-TR" kern="1200" dirty="0">
                <a:latin typeface="+mn-lt"/>
                <a:ea typeface="SimSun" panose="02010600030101010101" pitchFamily="2" charset="-122"/>
                <a:cs typeface="+mn-cs"/>
              </a:rPr>
              <a:t>Reklamlar</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reklam oldu</a:t>
            </a:r>
            <a:r>
              <a:rPr lang="en-US"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u a</a:t>
            </a:r>
            <a:r>
              <a:rPr lang="en-US" altLang="en-US" kern="1200" dirty="0">
                <a:latin typeface="+mn-lt"/>
                <a:ea typeface="SimSun" panose="02010600030101010101" pitchFamily="2" charset="-122"/>
                <a:cs typeface="+mn-cs"/>
              </a:rPr>
              <a:t>çı</a:t>
            </a:r>
            <a:r>
              <a:rPr lang="en-US" altLang="tr-TR" kern="1200" dirty="0">
                <a:latin typeface="+mn-lt"/>
                <a:ea typeface="SimSun" panose="02010600030101010101" pitchFamily="2" charset="-122"/>
                <a:cs typeface="+mn-cs"/>
              </a:rPr>
              <a:t>k</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a belirtilmelidir;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 reklam yap</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lmas</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yasakt</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Bu durum, g</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m</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zde en </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ok sosyal medya etkileyicileri (influencer) arac</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yla yap</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lan tan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mlarda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lmektedir.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Ticaret Bakanl</a:t>
            </a:r>
            <a:r>
              <a:rPr lang="en-US" altLang="en-US" kern="1200" dirty="0">
                <a:latin typeface="+mn-lt"/>
                <a:ea typeface="SimSun" panose="02010600030101010101" pitchFamily="2" charset="-122"/>
                <a:cs typeface="+mn-cs"/>
              </a:rPr>
              <a:t>ığı</a:t>
            </a:r>
            <a:r>
              <a:rPr lang="en-US" altLang="tr-TR" kern="1200" dirty="0">
                <a:latin typeface="+mn-lt"/>
                <a:ea typeface="SimSun" panose="02010600030101010101" pitchFamily="2" charset="-122"/>
                <a:cs typeface="+mn-cs"/>
              </a:rPr>
              <a:t> Reklam Kurulu'nun 'Sosyal Medya Etkileyicileri Taraf</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ndan Yap</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lan Ticari Reklam... K</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lavuzu' bu alan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zel olarak d</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zenler.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Bu k</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lavuza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re,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cretli 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birliklerinde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keticinin a</a:t>
            </a:r>
            <a:r>
              <a:rPr lang="en-US" altLang="en-US" kern="1200" dirty="0">
                <a:latin typeface="+mn-lt"/>
                <a:ea typeface="SimSun" panose="02010600030101010101" pitchFamily="2" charset="-122"/>
                <a:cs typeface="+mn-cs"/>
              </a:rPr>
              <a:t>çı</a:t>
            </a:r>
            <a:r>
              <a:rPr lang="en-US" altLang="tr-TR" kern="1200" dirty="0">
                <a:latin typeface="+mn-lt"/>
                <a:ea typeface="SimSun" panose="02010600030101010101" pitchFamily="2" charset="-122"/>
                <a:cs typeface="+mn-cs"/>
              </a:rPr>
              <a:t>k</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a anlayabilece</a:t>
            </a:r>
            <a:r>
              <a:rPr lang="en-US"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 </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ekilde #reklam, #i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birli</a:t>
            </a:r>
            <a:r>
              <a:rPr lang="en-US"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i, #sponsorlu gibi etiketlerin kullan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lmas</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zorunludur.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Bu etiketler olmadan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n/hizmet tan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m</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yap</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lmas</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 reklam' say</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 ve idari para cezalar</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 tabidir.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379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3796"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Reklam Yasakları </a:t>
            </a:r>
            <a:endParaRPr lang="en-US" altLang="tr-TR" b="1" dirty="0">
              <a:solidFill>
                <a:schemeClr val="bg1"/>
              </a:solidFill>
            </a:endParaRPr>
          </a:p>
        </p:txBody>
      </p:sp>
      <p:sp>
        <p:nvSpPr>
          <p:cNvPr id="33797"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Bazı </a:t>
            </a:r>
            <a:r>
              <a:rPr lang="tr-TR" altLang="en-US" b="1" kern="1200" dirty="0">
                <a:latin typeface="+mn-lt"/>
                <a:ea typeface="SimSun" panose="02010600030101010101" pitchFamily="2" charset="-122"/>
                <a:cs typeface="+mn-cs"/>
              </a:rPr>
              <a:t>meslek</a:t>
            </a:r>
            <a:r>
              <a:rPr lang="tr-TR" altLang="en-US" kern="1200" dirty="0">
                <a:latin typeface="+mn-lt"/>
                <a:ea typeface="SimSun" panose="02010600030101010101" pitchFamily="2" charset="-122"/>
                <a:cs typeface="+mn-cs"/>
              </a:rPr>
              <a:t>ler için reklam yasakları vardır. Bu mesleklerde reklam yasaklarının getirilmesinin nedeni, bu mesleklerin </a:t>
            </a:r>
            <a:r>
              <a:rPr lang="tr-TR" altLang="en-US" b="1" kern="1200" dirty="0">
                <a:latin typeface="+mn-lt"/>
                <a:ea typeface="SimSun" panose="02010600030101010101" pitchFamily="2" charset="-122"/>
                <a:cs typeface="+mn-cs"/>
              </a:rPr>
              <a:t>hayati öneme sahip olması</a:t>
            </a:r>
            <a:r>
              <a:rPr lang="tr-TR" altLang="en-US" kern="1200" dirty="0">
                <a:latin typeface="+mn-lt"/>
                <a:ea typeface="SimSun" panose="02010600030101010101" pitchFamily="2" charset="-122"/>
                <a:cs typeface="+mn-cs"/>
              </a:rPr>
              <a:t> ve reklam yolu ile bu </a:t>
            </a:r>
            <a:r>
              <a:rPr lang="tr-TR" altLang="en-US" b="1" kern="1200" dirty="0">
                <a:latin typeface="+mn-lt"/>
                <a:ea typeface="SimSun" panose="02010600030101010101" pitchFamily="2" charset="-122"/>
                <a:cs typeface="+mn-cs"/>
              </a:rPr>
              <a:t>hizmete ihtiyaç duyanların yanıltılması</a:t>
            </a:r>
            <a:r>
              <a:rPr lang="tr-TR" altLang="en-US" kern="1200" dirty="0">
                <a:latin typeface="+mn-lt"/>
                <a:ea typeface="SimSun" panose="02010600030101010101" pitchFamily="2" charset="-122"/>
                <a:cs typeface="+mn-cs"/>
              </a:rPr>
              <a:t> endişesidir.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Normal mesleki hayatlarında reklam yasağına tabi olan meslek grupları, </a:t>
            </a:r>
            <a:r>
              <a:rPr lang="tr-TR" altLang="en-US" b="1" kern="1200" dirty="0">
                <a:latin typeface="+mn-lt"/>
                <a:ea typeface="SimSun" panose="02010600030101010101" pitchFamily="2" charset="-122"/>
                <a:cs typeface="+mn-cs"/>
              </a:rPr>
              <a:t>avukatlar</a:t>
            </a:r>
            <a:r>
              <a:rPr lang="tr-TR" altLang="en-US" kern="1200" dirty="0">
                <a:latin typeface="+mn-lt"/>
                <a:ea typeface="SimSun" panose="02010600030101010101" pitchFamily="2" charset="-122"/>
                <a:cs typeface="+mn-cs"/>
              </a:rPr>
              <a:t>, </a:t>
            </a:r>
            <a:r>
              <a:rPr lang="tr-TR" altLang="en-US" b="1" kern="1200" dirty="0">
                <a:latin typeface="+mn-lt"/>
                <a:ea typeface="SimSun" panose="02010600030101010101" pitchFamily="2" charset="-122"/>
                <a:cs typeface="+mn-cs"/>
              </a:rPr>
              <a:t>doktorlar</a:t>
            </a:r>
            <a:r>
              <a:rPr lang="tr-TR" altLang="en-US" kern="1200" dirty="0">
                <a:latin typeface="+mn-lt"/>
                <a:ea typeface="SimSun" panose="02010600030101010101" pitchFamily="2" charset="-122"/>
                <a:cs typeface="+mn-cs"/>
              </a:rPr>
              <a:t>, </a:t>
            </a:r>
            <a:r>
              <a:rPr lang="tr-TR" altLang="en-US" b="1" kern="1200" dirty="0">
                <a:latin typeface="+mn-lt"/>
                <a:ea typeface="SimSun" panose="02010600030101010101" pitchFamily="2" charset="-122"/>
                <a:cs typeface="+mn-cs"/>
              </a:rPr>
              <a:t>eczacılar</a:t>
            </a:r>
            <a:r>
              <a:rPr lang="tr-TR" altLang="en-US" kern="1200" dirty="0">
                <a:latin typeface="+mn-lt"/>
                <a:ea typeface="SimSun" panose="02010600030101010101" pitchFamily="2" charset="-122"/>
                <a:cs typeface="+mn-cs"/>
              </a:rPr>
              <a:t> ve </a:t>
            </a:r>
            <a:r>
              <a:rPr lang="tr-TR" altLang="en-US" b="1" kern="1200" dirty="0">
                <a:latin typeface="+mn-lt"/>
                <a:ea typeface="SimSun" panose="02010600030101010101" pitchFamily="2" charset="-122"/>
                <a:cs typeface="+mn-cs"/>
              </a:rPr>
              <a:t>mali müşavir</a:t>
            </a:r>
            <a:r>
              <a:rPr lang="tr-TR" altLang="en-US" kern="1200" dirty="0">
                <a:latin typeface="+mn-lt"/>
                <a:ea typeface="SimSun" panose="02010600030101010101" pitchFamily="2" charset="-122"/>
                <a:cs typeface="+mn-cs"/>
              </a:rPr>
              <a:t>lerdir. Bu meslek grupları kendi mevzuatları gereğince </a:t>
            </a:r>
            <a:r>
              <a:rPr lang="tr-TR" altLang="en-US" b="1" kern="1200" dirty="0">
                <a:latin typeface="+mn-lt"/>
                <a:ea typeface="SimSun" panose="02010600030101010101" pitchFamily="2" charset="-122"/>
                <a:cs typeface="+mn-cs"/>
              </a:rPr>
              <a:t>reklam yapamazlar</a:t>
            </a:r>
            <a:r>
              <a:rPr lang="tr-TR" altLang="en-US" kern="1200" dirty="0">
                <a:latin typeface="+mn-lt"/>
                <a:ea typeface="SimSun" panose="02010600030101010101" pitchFamily="2" charset="-122"/>
                <a:cs typeface="+mn-cs"/>
              </a:rPr>
              <a:t>.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pic>
        <p:nvPicPr>
          <p:cNvPr id="33798" name="Picture 3"/>
          <p:cNvPicPr>
            <a:picLocks noChangeAspect="1"/>
          </p:cNvPicPr>
          <p:nvPr/>
        </p:nvPicPr>
        <p:blipFill>
          <a:blip r:embed="rId2"/>
          <a:stretch>
            <a:fillRect/>
          </a:stretch>
        </p:blipFill>
        <p:spPr>
          <a:xfrm>
            <a:off x="1339850" y="4975225"/>
            <a:ext cx="2847975" cy="1609725"/>
          </a:xfrm>
          <a:prstGeom prst="rect">
            <a:avLst/>
          </a:prstGeom>
          <a:noFill/>
          <a:ln w="9525">
            <a:noFill/>
          </a:ln>
        </p:spPr>
      </p:pic>
      <p:pic>
        <p:nvPicPr>
          <p:cNvPr id="33799" name="Picture 4"/>
          <p:cNvPicPr>
            <a:picLocks noChangeAspect="1"/>
          </p:cNvPicPr>
          <p:nvPr/>
        </p:nvPicPr>
        <p:blipFill>
          <a:blip r:embed="rId3"/>
          <a:stretch>
            <a:fillRect/>
          </a:stretch>
        </p:blipFill>
        <p:spPr>
          <a:xfrm>
            <a:off x="4619625" y="4975225"/>
            <a:ext cx="2952750" cy="1552575"/>
          </a:xfrm>
          <a:prstGeom prst="rect">
            <a:avLst/>
          </a:prstGeom>
          <a:noFill/>
          <a:ln w="9525">
            <a:noFill/>
          </a:ln>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584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5844"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Reklam Yasakları </a:t>
            </a:r>
            <a:endParaRPr lang="en-US" altLang="tr-TR" b="1" dirty="0">
              <a:solidFill>
                <a:schemeClr val="bg1"/>
              </a:solidFill>
            </a:endParaRPr>
          </a:p>
        </p:txBody>
      </p:sp>
      <p:sp>
        <p:nvSpPr>
          <p:cNvPr id="35845"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Elektronik ortamda </a:t>
            </a:r>
            <a:r>
              <a:rPr lang="tr-TR" altLang="en-US" b="1" kern="1200" dirty="0">
                <a:latin typeface="+mn-lt"/>
                <a:ea typeface="SimSun" panose="02010600030101010101" pitchFamily="2" charset="-122"/>
                <a:cs typeface="+mn-cs"/>
              </a:rPr>
              <a:t>bazı ürünlerin reklamlarının yapılması</a:t>
            </a:r>
            <a:r>
              <a:rPr lang="tr-TR" altLang="en-US" kern="1200" dirty="0">
                <a:latin typeface="+mn-lt"/>
                <a:ea typeface="SimSun" panose="02010600030101010101" pitchFamily="2" charset="-122"/>
                <a:cs typeface="+mn-cs"/>
              </a:rPr>
              <a:t> da o ürünlere ilişkin yasal düzenlemeler gereği</a:t>
            </a:r>
            <a:r>
              <a:rPr lang="tr-TR" altLang="en-US" b="1" kern="1200" dirty="0">
                <a:latin typeface="+mn-lt"/>
                <a:ea typeface="SimSun" panose="02010600030101010101" pitchFamily="2" charset="-122"/>
                <a:cs typeface="+mn-cs"/>
              </a:rPr>
              <a:t> yasak</a:t>
            </a:r>
            <a:r>
              <a:rPr lang="tr-TR" altLang="en-US" kern="1200" dirty="0">
                <a:latin typeface="+mn-lt"/>
                <a:ea typeface="SimSun" panose="02010600030101010101" pitchFamily="2" charset="-122"/>
                <a:cs typeface="+mn-cs"/>
              </a:rPr>
              <a:t>tır. Bunlardan biri </a:t>
            </a:r>
            <a:r>
              <a:rPr lang="tr-TR" altLang="en-US" b="1" kern="1200" dirty="0">
                <a:latin typeface="+mn-lt"/>
                <a:ea typeface="SimSun" panose="02010600030101010101" pitchFamily="2" charset="-122"/>
                <a:cs typeface="+mn-cs"/>
              </a:rPr>
              <a:t>ilaç</a:t>
            </a:r>
            <a:r>
              <a:rPr lang="tr-TR" altLang="en-US" kern="1200" dirty="0">
                <a:latin typeface="+mn-lt"/>
                <a:ea typeface="SimSun" panose="02010600030101010101" pitchFamily="2" charset="-122"/>
                <a:cs typeface="+mn-cs"/>
              </a:rPr>
              <a:t>tır.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Reçeteli ilaçlar için genel bir reklam yasağı getirilmiştir. Bu yasağın amacı, tüketicinin zarar görmesinin engellenmesidir.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reçetesiz satılan ilaçların radyo ve televizyon yoluyla reklamının yapılmasına imkân verilmiştir. </a:t>
            </a:r>
            <a:endParaRPr lang="tr-TR" altLang="en-US" kern="1200" dirty="0">
              <a:latin typeface="+mn-lt"/>
              <a:ea typeface="SimSun" panose="02010600030101010101" pitchFamily="2" charset="-122"/>
              <a:cs typeface="+mn-cs"/>
            </a:endParaRPr>
          </a:p>
        </p:txBody>
      </p:sp>
      <p:pic>
        <p:nvPicPr>
          <p:cNvPr id="35846" name="Picture 3"/>
          <p:cNvPicPr>
            <a:picLocks noChangeAspect="1"/>
          </p:cNvPicPr>
          <p:nvPr/>
        </p:nvPicPr>
        <p:blipFill>
          <a:blip r:embed="rId2"/>
          <a:stretch>
            <a:fillRect/>
          </a:stretch>
        </p:blipFill>
        <p:spPr>
          <a:xfrm>
            <a:off x="8372475" y="4546600"/>
            <a:ext cx="2743200" cy="1666875"/>
          </a:xfrm>
          <a:prstGeom prst="rect">
            <a:avLst/>
          </a:prstGeom>
          <a:noFill/>
          <a:ln w="9525">
            <a:noFill/>
          </a:ln>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789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7892"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Reklam Yasakları </a:t>
            </a:r>
            <a:endParaRPr lang="en-US" altLang="tr-TR" b="1" dirty="0">
              <a:solidFill>
                <a:schemeClr val="bg1"/>
              </a:solidFill>
            </a:endParaRPr>
          </a:p>
        </p:txBody>
      </p:sp>
      <p:sp>
        <p:nvSpPr>
          <p:cNvPr id="37893"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Alkol </a:t>
            </a:r>
            <a:r>
              <a:rPr lang="tr-TR" altLang="en-US" kern="1200" dirty="0">
                <a:latin typeface="+mn-lt"/>
                <a:ea typeface="SimSun" panose="02010600030101010101" pitchFamily="2" charset="-122"/>
                <a:cs typeface="+mn-cs"/>
              </a:rPr>
              <a:t>ve </a:t>
            </a:r>
            <a:r>
              <a:rPr lang="tr-TR" altLang="en-US" b="1" kern="1200" dirty="0">
                <a:latin typeface="+mn-lt"/>
                <a:ea typeface="SimSun" panose="02010600030101010101" pitchFamily="2" charset="-122"/>
                <a:cs typeface="+mn-cs"/>
              </a:rPr>
              <a:t>alkollü içecek</a:t>
            </a:r>
            <a:r>
              <a:rPr lang="tr-TR" altLang="en-US" kern="1200" dirty="0">
                <a:latin typeface="+mn-lt"/>
                <a:ea typeface="SimSun" panose="02010600030101010101" pitchFamily="2" charset="-122"/>
                <a:cs typeface="+mn-cs"/>
              </a:rPr>
              <a:t>lerin reklamı yapılamaz. Kanun’la sadece reklam yasaklanmamış aynı zamanda bu ürünlerin kullanılmasını ve satışını özendiren veya teşvik eden kampanya, promosyon ve etkinlik de yasak kapsamına alınmıştır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b="1" kern="1200" dirty="0">
                <a:latin typeface="+mn-lt"/>
                <a:ea typeface="SimSun" panose="02010600030101010101" pitchFamily="2" charset="-122"/>
                <a:cs typeface="+mn-cs"/>
              </a:rPr>
              <a:t>Tütün </a:t>
            </a:r>
            <a:r>
              <a:rPr lang="tr-TR" altLang="en-US" kern="1200" dirty="0">
                <a:latin typeface="+mn-lt"/>
                <a:ea typeface="SimSun" panose="02010600030101010101" pitchFamily="2" charset="-122"/>
                <a:cs typeface="+mn-cs"/>
              </a:rPr>
              <a:t>ürünlerinin ve üretici firmaların isim, marka veya alametleri kullanılarak her ne suretle olursa olsun reklam ve tanıtımının yapılması, bu ürünlerin kullanılmasını özendiren veya teşvik eden kampanyaların düzenlenmesi yasaklanmıştır.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Etkinliklere isimlerini, amblemlerini veya ürünlerinin</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marka ya da işaretlerini kullanarak destek olamayacakları</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da hükme bağlanmıştır</a:t>
            </a:r>
            <a:endParaRPr lang="tr-TR" altLang="en-US" kern="1200" dirty="0">
              <a:latin typeface="+mn-lt"/>
              <a:ea typeface="SimSun" panose="02010600030101010101" pitchFamily="2" charset="-122"/>
              <a:cs typeface="+mn-cs"/>
            </a:endParaRPr>
          </a:p>
        </p:txBody>
      </p:sp>
      <p:pic>
        <p:nvPicPr>
          <p:cNvPr id="37894" name="Picture 4"/>
          <p:cNvPicPr>
            <a:picLocks noChangeAspect="1"/>
          </p:cNvPicPr>
          <p:nvPr/>
        </p:nvPicPr>
        <p:blipFill>
          <a:blip r:embed="rId2"/>
          <a:stretch>
            <a:fillRect/>
          </a:stretch>
        </p:blipFill>
        <p:spPr>
          <a:xfrm>
            <a:off x="9340850" y="4889500"/>
            <a:ext cx="2571750" cy="1781175"/>
          </a:xfrm>
          <a:prstGeom prst="rect">
            <a:avLst/>
          </a:prstGeom>
          <a:noFill/>
          <a:ln w="9525">
            <a:noFill/>
          </a:ln>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3993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39940"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İnternette Reklamlara İlişkin Özel Sorunlar </a:t>
            </a:r>
            <a:endParaRPr lang="en-US" altLang="tr-TR" b="1" dirty="0">
              <a:solidFill>
                <a:schemeClr val="bg1"/>
              </a:solidFill>
            </a:endParaRPr>
          </a:p>
        </p:txBody>
      </p:sp>
      <p:sp>
        <p:nvSpPr>
          <p:cNvPr id="39941"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İnternet yoluyla reklamın kullanıcılara ulaşması son derece kolaylaşmış, ayrıca </a:t>
            </a:r>
            <a:r>
              <a:rPr lang="tr-TR" altLang="en-US" b="1" kern="1200" dirty="0">
                <a:latin typeface="+mn-lt"/>
                <a:ea typeface="SimSun" panose="02010600030101010101" pitchFamily="2" charset="-122"/>
                <a:cs typeface="+mn-cs"/>
              </a:rPr>
              <a:t>elektronik posta</a:t>
            </a:r>
            <a:r>
              <a:rPr lang="tr-TR" altLang="en-US" kern="1200" dirty="0">
                <a:latin typeface="+mn-lt"/>
                <a:ea typeface="SimSun" panose="02010600030101010101" pitchFamily="2" charset="-122"/>
                <a:cs typeface="+mn-cs"/>
              </a:rPr>
              <a:t> adreslerine gönderilen reklamlar ile </a:t>
            </a:r>
            <a:r>
              <a:rPr lang="tr-TR" altLang="en-US" b="1" kern="1200" dirty="0">
                <a:latin typeface="+mn-lt"/>
                <a:ea typeface="SimSun" panose="02010600030101010101" pitchFamily="2" charset="-122"/>
                <a:cs typeface="+mn-cs"/>
              </a:rPr>
              <a:t>aracısız reklam imkânı</a:t>
            </a:r>
            <a:r>
              <a:rPr lang="tr-TR" altLang="en-US" kern="1200" dirty="0">
                <a:latin typeface="+mn-lt"/>
                <a:ea typeface="SimSun" panose="02010600030101010101" pitchFamily="2" charset="-122"/>
                <a:cs typeface="+mn-cs"/>
              </a:rPr>
              <a:t>na kavuşulmuştur.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E-posta ile yapılan reklamlar, klasik usulde yapılan reklamlara göre daha avantajlıdır.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E-posta yolu ile yapılan reklamların bir başka avantajı ise müşteri kitlesine hızlı ulaşmasıdır. Bir tuş yardımı ile aynı anda binlerce adrese reklam gönderme imkânı mevcuttur.</a:t>
            </a:r>
            <a:endParaRPr lang="tr-TR" altLang="en-US" kern="1200" dirty="0">
              <a:latin typeface="+mn-lt"/>
              <a:ea typeface="SimSun" panose="02010600030101010101" pitchFamily="2" charset="-122"/>
              <a:cs typeface="+mn-cs"/>
            </a:endParaRPr>
          </a:p>
        </p:txBody>
      </p:sp>
      <p:pic>
        <p:nvPicPr>
          <p:cNvPr id="39942" name="Picture 3"/>
          <p:cNvPicPr>
            <a:picLocks noChangeAspect="1"/>
          </p:cNvPicPr>
          <p:nvPr/>
        </p:nvPicPr>
        <p:blipFill>
          <a:blip r:embed="rId2"/>
          <a:stretch>
            <a:fillRect/>
          </a:stretch>
        </p:blipFill>
        <p:spPr>
          <a:xfrm>
            <a:off x="9207500" y="5270500"/>
            <a:ext cx="2263775" cy="1411288"/>
          </a:xfrm>
          <a:prstGeom prst="rect">
            <a:avLst/>
          </a:prstGeom>
          <a:noFill/>
          <a:ln w="9525">
            <a:noFill/>
          </a:ln>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198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1988"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İzinsiz Elektronik Postalar</a:t>
            </a:r>
            <a:r>
              <a:rPr lang="tr-TR" altLang="en-US" b="1" dirty="0">
                <a:solidFill>
                  <a:schemeClr val="bg1"/>
                </a:solidFill>
              </a:rPr>
              <a:t>(Spam)</a:t>
            </a:r>
            <a:r>
              <a:rPr lang="en-US" altLang="tr-TR" b="1" dirty="0">
                <a:solidFill>
                  <a:schemeClr val="bg1"/>
                </a:solidFill>
              </a:rPr>
              <a:t> </a:t>
            </a:r>
            <a:endParaRPr lang="en-US" altLang="tr-TR" b="1" dirty="0">
              <a:solidFill>
                <a:schemeClr val="bg1"/>
              </a:solidFill>
            </a:endParaRPr>
          </a:p>
        </p:txBody>
      </p:sp>
      <p:sp>
        <p:nvSpPr>
          <p:cNvPr id="41989"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Doğrudan müşteriye yapılan bu reklam türü, reklamı yapan ve reklamı yapılan açısından faydalı olmakla birlikte; elektronik postasına reklam gönderilen kimseler açısından faydalı görülmeyebilir.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Posta kutusu dolan ve bu sebeple kendisine gönderilen diğer e-postaları alamayan İnternet kullanıcıları bu durumdan yakınmaktadır.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 Kişinin rızası dışında onunla iletişime geçilmektedir.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Bu tür reklamların hiçbir kurala bağlı olmaması nedeniyle de</a:t>
            </a:r>
            <a:r>
              <a:rPr lang="tr-TR" altLang="en-US" b="1" kern="1200" dirty="0">
                <a:latin typeface="+mn-lt"/>
                <a:ea typeface="SimSun" panose="02010600030101010101" pitchFamily="2" charset="-122"/>
                <a:cs typeface="+mn-cs"/>
              </a:rPr>
              <a:t> kişilere ait veriler</a:t>
            </a:r>
            <a:r>
              <a:rPr lang="tr-TR" altLang="en-US" kern="1200" dirty="0">
                <a:latin typeface="+mn-lt"/>
                <a:ea typeface="SimSun" panose="02010600030101010101" pitchFamily="2" charset="-122"/>
                <a:cs typeface="+mn-cs"/>
              </a:rPr>
              <a:t> (telefon numaraları, e-posta adresleri vb.) kişilerden </a:t>
            </a:r>
            <a:r>
              <a:rPr lang="tr-TR" altLang="en-US" b="1" kern="1200" dirty="0">
                <a:latin typeface="+mn-lt"/>
                <a:ea typeface="SimSun" panose="02010600030101010101" pitchFamily="2" charset="-122"/>
                <a:cs typeface="+mn-cs"/>
              </a:rPr>
              <a:t>izinsiz toplanmakta </a:t>
            </a:r>
            <a:r>
              <a:rPr lang="tr-TR" altLang="en-US" kern="1200" dirty="0">
                <a:latin typeface="+mn-lt"/>
                <a:ea typeface="SimSun" panose="02010600030101010101" pitchFamily="2" charset="-122"/>
                <a:cs typeface="+mn-cs"/>
              </a:rPr>
              <a:t>ve </a:t>
            </a:r>
            <a:r>
              <a:rPr lang="tr-TR" altLang="en-US" b="1" kern="1200" dirty="0">
                <a:latin typeface="+mn-lt"/>
                <a:ea typeface="SimSun" panose="02010600030101010101" pitchFamily="2" charset="-122"/>
                <a:cs typeface="+mn-cs"/>
              </a:rPr>
              <a:t>satılmakta</a:t>
            </a:r>
            <a:r>
              <a:rPr lang="tr-TR" altLang="en-US" kern="1200" dirty="0">
                <a:latin typeface="+mn-lt"/>
                <a:ea typeface="SimSun" panose="02010600030101010101" pitchFamily="2" charset="-122"/>
                <a:cs typeface="+mn-cs"/>
              </a:rPr>
              <a:t>dır. </a:t>
            </a:r>
            <a:endParaRPr lang="tr-TR" altLang="en-US" kern="1200" dirty="0">
              <a:latin typeface="+mn-lt"/>
              <a:ea typeface="SimSun" panose="02010600030101010101" pitchFamily="2" charset="-122"/>
              <a:cs typeface="+mn-cs"/>
            </a:endParaRPr>
          </a:p>
        </p:txBody>
      </p:sp>
      <p:pic>
        <p:nvPicPr>
          <p:cNvPr id="41990" name="Picture 3"/>
          <p:cNvPicPr>
            <a:picLocks noChangeAspect="1"/>
          </p:cNvPicPr>
          <p:nvPr/>
        </p:nvPicPr>
        <p:blipFill>
          <a:blip r:embed="rId2"/>
          <a:stretch>
            <a:fillRect/>
          </a:stretch>
        </p:blipFill>
        <p:spPr>
          <a:xfrm>
            <a:off x="9774238" y="3695700"/>
            <a:ext cx="2263775" cy="1411288"/>
          </a:xfrm>
          <a:prstGeom prst="rect">
            <a:avLst/>
          </a:prstGeom>
          <a:noFill/>
          <a:ln w="9525">
            <a:noFill/>
          </a:ln>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403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4036"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İzinsiz Elektronik Postalar</a:t>
            </a:r>
            <a:r>
              <a:rPr lang="tr-TR" altLang="en-US" b="1" dirty="0">
                <a:solidFill>
                  <a:schemeClr val="bg1"/>
                </a:solidFill>
              </a:rPr>
              <a:t>(Spam)</a:t>
            </a:r>
            <a:r>
              <a:rPr lang="en-US" altLang="tr-TR" b="1" dirty="0">
                <a:solidFill>
                  <a:schemeClr val="bg1"/>
                </a:solidFill>
              </a:rPr>
              <a:t> </a:t>
            </a:r>
            <a:endParaRPr lang="en-US" altLang="tr-TR" b="1" dirty="0">
              <a:solidFill>
                <a:schemeClr val="bg1"/>
              </a:solidFill>
            </a:endParaRPr>
          </a:p>
        </p:txBody>
      </p:sp>
      <p:sp>
        <p:nvSpPr>
          <p:cNvPr id="44037"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İzinsiz e-posta ya da geniş anlamı ile ticari iletiler konusunda dünyada iki sistem bulunmaktadır.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Bunlardan ilki, </a:t>
            </a:r>
            <a:r>
              <a:rPr lang="tr-TR" altLang="en-US" b="1" kern="1200" dirty="0">
                <a:latin typeface="+mn-lt"/>
                <a:ea typeface="SimSun" panose="02010600030101010101" pitchFamily="2" charset="-122"/>
                <a:cs typeface="+mn-cs"/>
              </a:rPr>
              <a:t>ilk ticari iletinin izinsiz de olsa gönderilebilmesi</a:t>
            </a:r>
            <a:r>
              <a:rPr lang="tr-TR" altLang="en-US" kern="1200" dirty="0">
                <a:latin typeface="+mn-lt"/>
                <a:ea typeface="SimSun" panose="02010600030101010101" pitchFamily="2" charset="-122"/>
                <a:cs typeface="+mn-cs"/>
              </a:rPr>
              <a:t> ancak ticari iletiyi alan kimsenin bir daha ileti almayacağını bildirerek sistemden çıkabilmesi (opt-out);</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ikincisi ise </a:t>
            </a:r>
            <a:r>
              <a:rPr lang="tr-TR" altLang="en-US" b="1" kern="1200" dirty="0">
                <a:latin typeface="+mn-lt"/>
                <a:ea typeface="SimSun" panose="02010600030101010101" pitchFamily="2" charset="-122"/>
                <a:cs typeface="+mn-cs"/>
              </a:rPr>
              <a:t>ilk ticari iletinin dahi önceden izin almak</a:t>
            </a:r>
            <a:r>
              <a:rPr lang="tr-TR" altLang="en-US" kern="1200" dirty="0">
                <a:latin typeface="+mn-lt"/>
                <a:ea typeface="SimSun" panose="02010600030101010101" pitchFamily="2" charset="-122"/>
                <a:cs typeface="+mn-cs"/>
              </a:rPr>
              <a:t> suretiyle gönderilebilmesidir (opt-in). </a:t>
            </a:r>
            <a:endParaRPr lang="tr-TR" altLang="en-US" kern="1200" dirty="0">
              <a:latin typeface="+mn-lt"/>
              <a:ea typeface="SimSun" panose="02010600030101010101" pitchFamily="2" charset="-122"/>
              <a:cs typeface="+mn-cs"/>
            </a:endParaRPr>
          </a:p>
        </p:txBody>
      </p:sp>
      <p:pic>
        <p:nvPicPr>
          <p:cNvPr id="44038" name="Picture 3"/>
          <p:cNvPicPr>
            <a:picLocks noChangeAspect="1"/>
          </p:cNvPicPr>
          <p:nvPr/>
        </p:nvPicPr>
        <p:blipFill>
          <a:blip r:embed="rId2"/>
          <a:stretch>
            <a:fillRect/>
          </a:stretch>
        </p:blipFill>
        <p:spPr>
          <a:xfrm>
            <a:off x="9774238" y="3695700"/>
            <a:ext cx="2263775" cy="1411288"/>
          </a:xfrm>
          <a:prstGeom prst="rect">
            <a:avLst/>
          </a:prstGeom>
          <a:noFill/>
          <a:ln w="9525">
            <a:noFill/>
          </a:ln>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4035"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4036" name="Text Box 2"/>
          <p:cNvSpPr txBox="1"/>
          <p:nvPr/>
        </p:nvSpPr>
        <p:spPr>
          <a:xfrm>
            <a:off x="723900" y="639763"/>
            <a:ext cx="10267950" cy="5219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T</a:t>
            </a:r>
            <a:r>
              <a:rPr lang="en-US" altLang="en-US" b="1" dirty="0">
                <a:solidFill>
                  <a:schemeClr val="bg1"/>
                </a:solidFill>
              </a:rPr>
              <a:t>ü</a:t>
            </a:r>
            <a:r>
              <a:rPr lang="en-US" altLang="tr-TR" b="1" dirty="0">
                <a:solidFill>
                  <a:schemeClr val="bg1"/>
                </a:solidFill>
              </a:rPr>
              <a:t>rkiye'deki Uygulama: </a:t>
            </a:r>
            <a:r>
              <a:rPr lang="en-US" altLang="en-US" b="1" dirty="0">
                <a:solidFill>
                  <a:schemeClr val="bg1"/>
                </a:solidFill>
              </a:rPr>
              <a:t>İ</a:t>
            </a:r>
            <a:r>
              <a:rPr lang="en-US" altLang="tr-TR" b="1" dirty="0">
                <a:solidFill>
                  <a:schemeClr val="bg1"/>
                </a:solidFill>
              </a:rPr>
              <a:t>leti Y</a:t>
            </a:r>
            <a:r>
              <a:rPr lang="en-US" altLang="en-US" b="1" dirty="0">
                <a:solidFill>
                  <a:schemeClr val="bg1"/>
                </a:solidFill>
              </a:rPr>
              <a:t>ö</a:t>
            </a:r>
            <a:r>
              <a:rPr lang="en-US" altLang="tr-TR" b="1" dirty="0">
                <a:solidFill>
                  <a:schemeClr val="bg1"/>
                </a:solidFill>
              </a:rPr>
              <a:t>netim Sistemi (</a:t>
            </a:r>
            <a:r>
              <a:rPr lang="en-US" altLang="en-US" b="1" dirty="0">
                <a:solidFill>
                  <a:schemeClr val="bg1"/>
                </a:solidFill>
              </a:rPr>
              <a:t>İ</a:t>
            </a:r>
            <a:r>
              <a:rPr lang="en-US" altLang="tr-TR" b="1" dirty="0">
                <a:solidFill>
                  <a:schemeClr val="bg1"/>
                </a:solidFill>
              </a:rPr>
              <a:t>YS)</a:t>
            </a:r>
            <a:endParaRPr lang="en-US" altLang="tr-TR" b="1" dirty="0">
              <a:solidFill>
                <a:schemeClr val="bg1"/>
              </a:solidFill>
            </a:endParaRPr>
          </a:p>
        </p:txBody>
      </p:sp>
      <p:sp>
        <p:nvSpPr>
          <p:cNvPr id="44037"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eaLnBrk="1" hangingPunct="1"/>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rkiye, 6563 say</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Kanun ile temelde 'Opt-in'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nceden izin alma)  sistemini benimsemi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tir.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Bu ticari elektronik ileti izinlerinin ve ret bildirimlerinin (opt-out) y</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netilmesi i</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merkezi bir veri taban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olan </a:t>
            </a:r>
            <a:r>
              <a:rPr lang="en-US"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leti Y</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netim Sistemi (</a:t>
            </a:r>
            <a:r>
              <a:rPr lang="en-US"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YS) kurulmu</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tur.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Reklam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nderenler (hizmet sa</a:t>
            </a:r>
            <a:r>
              <a:rPr lang="en-US" altLang="en-US" kern="1200" dirty="0">
                <a:latin typeface="+mn-lt"/>
                <a:ea typeface="SimSun" panose="02010600030101010101" pitchFamily="2" charset="-122"/>
                <a:cs typeface="+mn-cs"/>
              </a:rPr>
              <a:t>ğ</a:t>
            </a:r>
            <a:r>
              <a:rPr lang="en-US" altLang="tr-TR" kern="1200" dirty="0">
                <a:latin typeface="+mn-lt"/>
                <a:ea typeface="SimSun" panose="02010600030101010101" pitchFamily="2" charset="-122"/>
                <a:cs typeface="+mn-cs"/>
              </a:rPr>
              <a:t>lay</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lar), al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lardan (vatanda</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lardan) ald</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klar</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izinleri bu sisteme kaydetmek zorundad</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eaLnBrk="1" hangingPunct="1"/>
            <a:r>
              <a:rPr lang="en-US" altLang="tr-TR" kern="1200" dirty="0">
                <a:latin typeface="+mn-lt"/>
                <a:ea typeface="SimSun" panose="02010600030101010101" pitchFamily="2" charset="-122"/>
                <a:cs typeface="+mn-cs"/>
              </a:rPr>
              <a:t>Vatanda</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lar, e-Devlet veya </a:t>
            </a:r>
            <a:r>
              <a:rPr lang="en-US"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YS </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zerinden hangi firmaya izin verdiklerini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rebilir ve bu izinleri diledikleri zaman kald</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rabilir.</a:t>
            </a:r>
            <a:endParaRPr lang="en-US" altLang="tr-TR" kern="1200" dirty="0">
              <a:latin typeface="+mn-lt"/>
              <a:ea typeface="SimSun" panose="02010600030101010101" pitchFamily="2" charset="-122"/>
              <a:cs typeface="+mn-cs"/>
            </a:endParaRPr>
          </a:p>
          <a:p>
            <a:pPr eaLnBrk="1" hangingPunct="1"/>
            <a:r>
              <a:rPr lang="en-US"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YS'de onay</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bulunmayan ki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ilere ticari ileti (e-posta, SMS)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ndermek yasa d</a:t>
            </a:r>
            <a:r>
              <a:rPr lang="en-US" altLang="en-US" kern="1200" dirty="0">
                <a:latin typeface="+mn-lt"/>
                <a:ea typeface="SimSun" panose="02010600030101010101" pitchFamily="2" charset="-122"/>
                <a:cs typeface="+mn-cs"/>
              </a:rPr>
              <a:t>ışı</a:t>
            </a:r>
            <a:r>
              <a:rPr lang="en-US" altLang="tr-TR" kern="1200" dirty="0">
                <a:latin typeface="+mn-lt"/>
                <a:ea typeface="SimSun" panose="02010600030101010101" pitchFamily="2" charset="-122"/>
                <a:cs typeface="+mn-cs"/>
              </a:rPr>
              <a:t>d</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r.</a:t>
            </a:r>
            <a:endParaRPr lang="en-US" altLang="tr-TR"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6083"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6084"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İzinsiz Elektronik Postalar</a:t>
            </a:r>
            <a:r>
              <a:rPr lang="tr-TR" altLang="en-US" b="1" dirty="0">
                <a:solidFill>
                  <a:schemeClr val="bg1"/>
                </a:solidFill>
              </a:rPr>
              <a:t>(Spam)</a:t>
            </a:r>
            <a:r>
              <a:rPr lang="en-US" altLang="tr-TR" b="1" dirty="0">
                <a:solidFill>
                  <a:schemeClr val="bg1"/>
                </a:solidFill>
              </a:rPr>
              <a:t> </a:t>
            </a:r>
            <a:endParaRPr lang="en-US" altLang="tr-TR" b="1" dirty="0">
              <a:solidFill>
                <a:schemeClr val="bg1"/>
              </a:solidFill>
            </a:endParaRPr>
          </a:p>
        </p:txBody>
      </p:sp>
      <p:sp>
        <p:nvSpPr>
          <p:cNvPr id="46085"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en-US" altLang="tr-TR" kern="1200" dirty="0">
                <a:latin typeface="+mn-lt"/>
                <a:ea typeface="SimSun" panose="02010600030101010101" pitchFamily="2" charset="-122"/>
                <a:cs typeface="+mn-cs"/>
              </a:rPr>
              <a:t>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rkiye'deki ana kural t</a:t>
            </a:r>
            <a:r>
              <a:rPr lang="en-US" altLang="en-US" kern="1200" dirty="0">
                <a:latin typeface="+mn-lt"/>
                <a:ea typeface="SimSun" panose="02010600030101010101" pitchFamily="2" charset="-122"/>
                <a:cs typeface="+mn-cs"/>
              </a:rPr>
              <a:t>ü</a:t>
            </a:r>
            <a:r>
              <a:rPr lang="en-US" altLang="tr-TR" kern="1200" dirty="0">
                <a:latin typeface="+mn-lt"/>
                <a:ea typeface="SimSun" panose="02010600030101010101" pitchFamily="2" charset="-122"/>
                <a:cs typeface="+mn-cs"/>
              </a:rPr>
              <a:t>keticiler i</a:t>
            </a:r>
            <a:r>
              <a:rPr lang="en-US" altLang="en-US" kern="1200" dirty="0">
                <a:latin typeface="+mn-lt"/>
                <a:ea typeface="SimSun" panose="02010600030101010101" pitchFamily="2" charset="-122"/>
                <a:cs typeface="+mn-cs"/>
              </a:rPr>
              <a:t>ç</a:t>
            </a:r>
            <a:r>
              <a:rPr lang="en-US" altLang="tr-TR" kern="1200" dirty="0">
                <a:latin typeface="+mn-lt"/>
                <a:ea typeface="SimSun" panose="02010600030101010101" pitchFamily="2" charset="-122"/>
                <a:cs typeface="+mn-cs"/>
              </a:rPr>
              <a:t>in 'Opt-in'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nceden </a:t>
            </a:r>
            <a:r>
              <a:rPr lang="en-US" altLang="en-US" kern="1200" dirty="0">
                <a:latin typeface="+mn-lt"/>
                <a:ea typeface="SimSun" panose="02010600030101010101" pitchFamily="2" charset="-122"/>
                <a:cs typeface="+mn-cs"/>
              </a:rPr>
              <a:t>İ</a:t>
            </a:r>
            <a:r>
              <a:rPr lang="en-US" altLang="tr-TR" kern="1200" dirty="0">
                <a:latin typeface="+mn-lt"/>
                <a:ea typeface="SimSun" panose="02010600030101010101" pitchFamily="2" charset="-122"/>
                <a:cs typeface="+mn-cs"/>
              </a:rPr>
              <a:t>zin) sistemidir. Ancak 6563 say</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Kanun, bu kurala bir istisna getirmi</a:t>
            </a:r>
            <a:r>
              <a:rPr lang="en-US" altLang="en-US" kern="1200" dirty="0">
                <a:latin typeface="+mn-lt"/>
                <a:ea typeface="SimSun" panose="02010600030101010101" pitchFamily="2" charset="-122"/>
                <a:cs typeface="+mn-cs"/>
              </a:rPr>
              <a:t>ş</a:t>
            </a:r>
            <a:r>
              <a:rPr lang="en-US" altLang="tr-TR" kern="1200" dirty="0">
                <a:latin typeface="+mn-lt"/>
                <a:ea typeface="SimSun" panose="02010600030101010101" pitchFamily="2" charset="-122"/>
                <a:cs typeface="+mn-cs"/>
              </a:rPr>
              <a:t>tir: Al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c</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esnaf veya tacir olmas</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durumunda, </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nceden izin al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nmaks</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z</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n ticari elektronik ileti g</a:t>
            </a:r>
            <a:r>
              <a:rPr lang="en-US" altLang="en-US" kern="1200" dirty="0">
                <a:latin typeface="+mn-lt"/>
                <a:ea typeface="SimSun" panose="02010600030101010101" pitchFamily="2" charset="-122"/>
                <a:cs typeface="+mn-cs"/>
              </a:rPr>
              <a:t>ö</a:t>
            </a:r>
            <a:r>
              <a:rPr lang="en-US" altLang="tr-TR" kern="1200" dirty="0">
                <a:latin typeface="+mn-lt"/>
                <a:ea typeface="SimSun" panose="02010600030101010101" pitchFamily="2" charset="-122"/>
                <a:cs typeface="+mn-cs"/>
              </a:rPr>
              <a:t>nderilebilir. Ancak, bu durumda dahi esnaf veya tacirlere 'reddetme hakk</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(opt-out) kolayca sunulmal</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ve bu hakka uymalar</a:t>
            </a:r>
            <a:r>
              <a:rPr lang="en-US" altLang="en-US" kern="1200" dirty="0">
                <a:latin typeface="+mn-lt"/>
                <a:ea typeface="SimSun" panose="02010600030101010101" pitchFamily="2" charset="-122"/>
                <a:cs typeface="+mn-cs"/>
              </a:rPr>
              <a:t>ı</a:t>
            </a:r>
            <a:r>
              <a:rPr lang="en-US" altLang="tr-TR" kern="1200" dirty="0">
                <a:latin typeface="+mn-lt"/>
                <a:ea typeface="SimSun" panose="02010600030101010101" pitchFamily="2" charset="-122"/>
                <a:cs typeface="+mn-cs"/>
              </a:rPr>
              <a:t> zorunludur.</a:t>
            </a:r>
            <a:endParaRPr lang="en-US" altLang="tr-TR" kern="1200" dirty="0">
              <a:latin typeface="+mn-lt"/>
              <a:ea typeface="SimSun" panose="02010600030101010101" pitchFamily="2" charset="-122"/>
              <a:cs typeface="+mn-cs"/>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48131"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48132"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Arama Motorlarında Kelime Tabanlı Reklamlar (Adwords Reklamlar) </a:t>
            </a:r>
            <a:endParaRPr lang="en-US" altLang="tr-TR" b="1" dirty="0">
              <a:solidFill>
                <a:schemeClr val="bg1"/>
              </a:solidFill>
            </a:endParaRPr>
          </a:p>
        </p:txBody>
      </p:sp>
      <p:sp>
        <p:nvSpPr>
          <p:cNvPr id="48133"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Dünyanın tanınmış arama motoru </a:t>
            </a:r>
            <a:r>
              <a:rPr lang="tr-TR" altLang="en-US" b="1" kern="1200" dirty="0">
                <a:latin typeface="+mn-lt"/>
                <a:ea typeface="SimSun" panose="02010600030101010101" pitchFamily="2" charset="-122"/>
                <a:cs typeface="+mn-cs"/>
              </a:rPr>
              <a:t>Google</a:t>
            </a:r>
            <a:r>
              <a:rPr lang="tr-TR" altLang="en-US" kern="1200" dirty="0">
                <a:latin typeface="+mn-lt"/>
                <a:ea typeface="SimSun" panose="02010600030101010101" pitchFamily="2" charset="-122"/>
                <a:cs typeface="+mn-cs"/>
              </a:rPr>
              <a:t>, “Sponsore Edilmiş Bağlantılar” şeklinde hazırlanmış “</a:t>
            </a:r>
            <a:r>
              <a:rPr lang="tr-TR" altLang="en-US" b="1" kern="1200" dirty="0">
                <a:latin typeface="+mn-lt"/>
                <a:ea typeface="SimSun" panose="02010600030101010101" pitchFamily="2" charset="-122"/>
                <a:cs typeface="+mn-cs"/>
              </a:rPr>
              <a:t>AdWords</a:t>
            </a:r>
            <a:r>
              <a:rPr lang="tr-TR" altLang="en-US" kern="1200" dirty="0">
                <a:latin typeface="+mn-lt"/>
                <a:ea typeface="SimSun" panose="02010600030101010101" pitchFamily="2" charset="-122"/>
                <a:cs typeface="+mn-cs"/>
              </a:rPr>
              <a:t>” adını verdiği ve reklam verenlerin reklamlarını, </a:t>
            </a:r>
            <a:r>
              <a:rPr lang="tr-TR" altLang="en-US" b="1" kern="1200" dirty="0">
                <a:latin typeface="+mn-lt"/>
                <a:ea typeface="SimSun" panose="02010600030101010101" pitchFamily="2" charset="-122"/>
                <a:cs typeface="+mn-cs"/>
              </a:rPr>
              <a:t>aramada kullanılan kavramlar</a:t>
            </a:r>
            <a:r>
              <a:rPr lang="tr-TR" altLang="en-US" kern="1200" dirty="0">
                <a:latin typeface="+mn-lt"/>
                <a:ea typeface="SimSun" panose="02010600030101010101" pitchFamily="2" charset="-122"/>
                <a:cs typeface="+mn-cs"/>
              </a:rPr>
              <a:t>la bağlantılı olarak kullanıcılara gösteren bir sistem kullanmaktadır.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Pazarın lideri konumundaki Google kendi reklam programını “Google Adwords” olarak adlandırmaktadır. Diğer İnternet arama motorları da </a:t>
            </a:r>
            <a:r>
              <a:rPr lang="tr-TR" altLang="en-US" b="1" kern="1200" dirty="0">
                <a:latin typeface="+mn-lt"/>
                <a:ea typeface="SimSun" panose="02010600030101010101" pitchFamily="2" charset="-122"/>
                <a:cs typeface="+mn-cs"/>
              </a:rPr>
              <a:t>benzer sistemler </a:t>
            </a:r>
            <a:r>
              <a:rPr lang="tr-TR" altLang="en-US" kern="1200" dirty="0">
                <a:latin typeface="+mn-lt"/>
                <a:ea typeface="SimSun" panose="02010600030101010101" pitchFamily="2" charset="-122"/>
                <a:cs typeface="+mn-cs"/>
              </a:rPr>
              <a:t>kullanmaktadır.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Başlangıç itibarıyla arama motorlarında reklamlar; </a:t>
            </a:r>
            <a:r>
              <a:rPr lang="tr-TR" altLang="en-US" b="1" kern="1200" dirty="0">
                <a:latin typeface="+mn-lt"/>
                <a:ea typeface="SimSun" panose="02010600030101010101" pitchFamily="2" charset="-122"/>
                <a:cs typeface="+mn-cs"/>
              </a:rPr>
              <a:t>cins, meslek ya da bir ürün veya ürünün özelliğine göre</a:t>
            </a:r>
            <a:r>
              <a:rPr lang="tr-TR" altLang="en-US" kern="1200" dirty="0">
                <a:latin typeface="+mn-lt"/>
                <a:ea typeface="SimSun" panose="02010600030101010101" pitchFamily="2" charset="-122"/>
                <a:cs typeface="+mn-cs"/>
              </a:rPr>
              <a:t> kullanıcının karşısına çıkarılmakta iken zaman içinde rakip firma isimleri, tanınmış kişiler ya da rakip markalara göre çıkarılmaktadır.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p:txBody>
      </p:sp>
      <p:pic>
        <p:nvPicPr>
          <p:cNvPr id="48134" name="Picture 4"/>
          <p:cNvPicPr>
            <a:picLocks noChangeAspect="1"/>
          </p:cNvPicPr>
          <p:nvPr/>
        </p:nvPicPr>
        <p:blipFill>
          <a:blip r:embed="rId2"/>
          <a:stretch>
            <a:fillRect/>
          </a:stretch>
        </p:blipFill>
        <p:spPr>
          <a:xfrm>
            <a:off x="8970963" y="2460625"/>
            <a:ext cx="1465262" cy="974725"/>
          </a:xfrm>
          <a:prstGeom prst="rect">
            <a:avLst/>
          </a:prstGeom>
          <a:noFill/>
          <a:ln w="9525">
            <a:noFill/>
          </a:ln>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50179"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50180"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Arama Motorlarında Kelime Tabanlı Reklamlar (Adwords Reklamlar) </a:t>
            </a:r>
            <a:endParaRPr lang="en-US" altLang="tr-TR" b="1" dirty="0">
              <a:solidFill>
                <a:schemeClr val="bg1"/>
              </a:solidFill>
            </a:endParaRPr>
          </a:p>
        </p:txBody>
      </p:sp>
      <p:sp>
        <p:nvSpPr>
          <p:cNvPr id="50181"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Reklamların her “tık”lanmasında Google’a kararlaştırılmış bir ücret ödenmektedir. Ayrıca Reklamlar 1000(1k) gösterim içinde ücretlendirebilmektedir.</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kern="1200" dirty="0">
                <a:latin typeface="+mn-lt"/>
                <a:ea typeface="SimSun" panose="02010600030101010101" pitchFamily="2" charset="-122"/>
                <a:cs typeface="+mn-cs"/>
              </a:rPr>
              <a:t>Web sitesi birden çok reklama imkân verdiğinden, </a:t>
            </a:r>
            <a:r>
              <a:rPr lang="tr-TR" altLang="en-US" b="1" kern="1200" dirty="0">
                <a:latin typeface="+mn-lt"/>
                <a:ea typeface="SimSun" panose="02010600030101010101" pitchFamily="2" charset="-122"/>
                <a:cs typeface="+mn-cs"/>
              </a:rPr>
              <a:t>reklamların kaçıncı sırada yer alacağını</a:t>
            </a:r>
            <a:r>
              <a:rPr lang="tr-TR" altLang="en-US" kern="1200" dirty="0">
                <a:latin typeface="+mn-lt"/>
                <a:ea typeface="SimSun" panose="02010600030101010101" pitchFamily="2" charset="-122"/>
                <a:cs typeface="+mn-cs"/>
              </a:rPr>
              <a:t>, işletmelerin kendileri belirlemektedir; zira sıralama, işletmenin reklama her tıklama için ödemeye hazır olduğu </a:t>
            </a:r>
            <a:r>
              <a:rPr lang="tr-TR" altLang="en-US" b="1" kern="1200" dirty="0">
                <a:latin typeface="+mn-lt"/>
                <a:ea typeface="SimSun" panose="02010600030101010101" pitchFamily="2" charset="-122"/>
                <a:cs typeface="+mn-cs"/>
              </a:rPr>
              <a:t>fiyat</a:t>
            </a:r>
            <a:r>
              <a:rPr lang="tr-TR" altLang="en-US" kern="1200" dirty="0">
                <a:latin typeface="+mn-lt"/>
                <a:ea typeface="SimSun" panose="02010600030101010101" pitchFamily="2" charset="-122"/>
                <a:cs typeface="+mn-cs"/>
              </a:rPr>
              <a:t>a göre belirlenmektedir. </a:t>
            </a: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b="1" kern="1200" dirty="0">
              <a:latin typeface="+mn-lt"/>
              <a:ea typeface="SimSun" panose="02010600030101010101" pitchFamily="2" charset="-122"/>
              <a:cs typeface="+mn-cs"/>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 name="矩形 1"/>
          <p:cNvSpPr/>
          <p:nvPr/>
        </p:nvSpPr>
        <p:spPr>
          <a:xfrm>
            <a:off x="0" y="277813"/>
            <a:ext cx="130175" cy="3556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ea typeface="SimSun"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stStyle>
          <a:p>
            <a:pPr lvl="0" algn="ctr" eaLnBrk="1" hangingPunct="1">
              <a:buNone/>
            </a:pPr>
            <a:endParaRPr lang="zh-CN" altLang="en-US" dirty="0">
              <a:solidFill>
                <a:srgbClr val="FFFFFF"/>
              </a:solidFill>
              <a:latin typeface="Calibri" panose="020F0502020204030204" pitchFamily="34" charset="0"/>
            </a:endParaRPr>
          </a:p>
        </p:txBody>
      </p:sp>
      <p:sp>
        <p:nvSpPr>
          <p:cNvPr id="52227" name="文本框 31"/>
          <p:cNvSpPr txBox="1"/>
          <p:nvPr/>
        </p:nvSpPr>
        <p:spPr>
          <a:xfrm>
            <a:off x="130175" y="271463"/>
            <a:ext cx="9644063" cy="3683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None/>
            </a:pPr>
            <a:r>
              <a:rPr lang="en-US" altLang="zh-CN" sz="1800" b="1" dirty="0">
                <a:solidFill>
                  <a:schemeClr val="bg1"/>
                </a:solidFill>
                <a:latin typeface="Microsoft YaHei" panose="020B0503020204020204" pitchFamily="34" charset="-122"/>
                <a:ea typeface="Microsoft YaHei" panose="020B0503020204020204" pitchFamily="34" charset="-122"/>
                <a:sym typeface="SimSun" panose="02010600030101010101" pitchFamily="2" charset="-122"/>
              </a:rPr>
              <a:t>  Elektronik Ortamda Reklamlar</a:t>
            </a:r>
            <a:endParaRPr lang="tr-TR" altLang="zh-CN" sz="1800" b="1" dirty="0">
              <a:solidFill>
                <a:schemeClr val="bg1"/>
              </a:solidFill>
              <a:latin typeface="Microsoft YaHei" panose="020B0503020204020204" pitchFamily="34" charset="-122"/>
              <a:ea typeface="Microsoft YaHei" panose="020B0503020204020204" pitchFamily="34" charset="-122"/>
            </a:endParaRPr>
          </a:p>
        </p:txBody>
      </p:sp>
      <p:sp>
        <p:nvSpPr>
          <p:cNvPr id="52228" name="Text Box 2"/>
          <p:cNvSpPr txBox="1"/>
          <p:nvPr/>
        </p:nvSpPr>
        <p:spPr>
          <a:xfrm>
            <a:off x="723900" y="639763"/>
            <a:ext cx="10267950" cy="52228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SimSun" panose="02010600030101010101" pitchFamily="2"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SimSun" panose="02010600030101010101" pitchFamily="2"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SimSun" panose="02010600030101010101" pitchFamily="2" charset="-122"/>
                <a:cs typeface="+mn-cs"/>
              </a:defRPr>
            </a:lvl5pPr>
          </a:lstStyle>
          <a:p>
            <a:pPr marL="0" lvl="0" indent="0" eaLnBrk="1" hangingPunct="1">
              <a:lnSpc>
                <a:spcPct val="100000"/>
              </a:lnSpc>
              <a:spcBef>
                <a:spcPct val="0"/>
              </a:spcBef>
              <a:buFontTx/>
              <a:buNone/>
            </a:pPr>
            <a:r>
              <a:rPr lang="en-US" altLang="tr-TR" b="1" dirty="0">
                <a:solidFill>
                  <a:schemeClr val="bg1"/>
                </a:solidFill>
              </a:rPr>
              <a:t>Arama Motorlarında Kelime Tabanlı Reklamlar (Adwords Reklamlar) </a:t>
            </a:r>
            <a:endParaRPr lang="en-US" altLang="tr-TR" b="1" dirty="0">
              <a:solidFill>
                <a:schemeClr val="bg1"/>
              </a:solidFill>
            </a:endParaRPr>
          </a:p>
        </p:txBody>
      </p:sp>
      <p:sp>
        <p:nvSpPr>
          <p:cNvPr id="52229" name="Content Placeholder 2"/>
          <p:cNvSpPr>
            <a:spLocks noGrp="1"/>
          </p:cNvSpPr>
          <p:nvPr>
            <p:ph idx="1" hasCustomPrompt="1"/>
          </p:nvPr>
        </p:nvSpPr>
        <p:spPr>
          <a:xfrm>
            <a:off x="838200" y="1252538"/>
            <a:ext cx="10515600" cy="4960937"/>
          </a:xfrm>
        </p:spPr>
        <p:txBody>
          <a:bodyPr vert="horz" wrap="square" lIns="91440" tIns="45720" rIns="91440" bIns="45720" anchor="t" anchorCtr="0"/>
          <a:p>
            <a:pPr marL="0" indent="0" eaLnBrk="1" hangingPunct="1">
              <a:buFont typeface="Arial" panose="020B0604020202020204" pitchFamily="34" charset="0"/>
              <a:buNone/>
            </a:pPr>
            <a:r>
              <a:rPr lang="tr-TR" altLang="en-US" sz="2400" kern="1200" dirty="0">
                <a:latin typeface="+mn-lt"/>
                <a:ea typeface="SimSun" panose="02010600030101010101" pitchFamily="2" charset="-122"/>
                <a:cs typeface="+mn-cs"/>
              </a:rPr>
              <a:t>Adwords reklamlarda bir </a:t>
            </a:r>
            <a:r>
              <a:rPr lang="tr-TR" altLang="en-US" sz="2400" b="1" kern="1200" dirty="0">
                <a:latin typeface="+mn-lt"/>
                <a:ea typeface="SimSun" panose="02010600030101010101" pitchFamily="2" charset="-122"/>
                <a:cs typeface="+mn-cs"/>
              </a:rPr>
              <a:t>kişi ismi</a:t>
            </a:r>
            <a:r>
              <a:rPr lang="tr-TR" altLang="en-US" sz="2400" kern="1200" dirty="0">
                <a:latin typeface="+mn-lt"/>
                <a:ea typeface="SimSun" panose="02010600030101010101" pitchFamily="2" charset="-122"/>
                <a:cs typeface="+mn-cs"/>
              </a:rPr>
              <a:t>nin kullanılabilmesi de mümkündür. </a:t>
            </a:r>
            <a:endParaRPr lang="tr-TR" altLang="en-US"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sz="2400" kern="1200" dirty="0">
                <a:latin typeface="+mn-lt"/>
                <a:ea typeface="SimSun" panose="02010600030101010101" pitchFamily="2" charset="-122"/>
                <a:cs typeface="+mn-cs"/>
              </a:rPr>
              <a:t>Örneğin İbrahim Tatlıses, Funda Arar gibi sanatçıların ismi hâlihazırda adwords reklamlarda kullanılmaktadır.</a:t>
            </a:r>
            <a:endParaRPr lang="tr-TR" altLang="en-US"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sz="2400" kern="1200" dirty="0">
                <a:latin typeface="+mn-lt"/>
                <a:ea typeface="SimSun" panose="02010600030101010101" pitchFamily="2" charset="-122"/>
                <a:cs typeface="+mn-cs"/>
              </a:rPr>
              <a:t>Herhangi bir kimseden izin alınmaksızın kişinin adının kullanılamayacağı MK m. 26 ile açıkça hükme bağlanmıştır. </a:t>
            </a:r>
            <a:endParaRPr lang="tr-TR" altLang="en-US"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tr-TR" altLang="en-US" sz="2400" kern="1200" dirty="0">
                <a:latin typeface="+mn-lt"/>
                <a:ea typeface="SimSun" panose="02010600030101010101" pitchFamily="2" charset="-122"/>
                <a:cs typeface="+mn-cs"/>
              </a:rPr>
              <a:t>Bu hükme göre “</a:t>
            </a:r>
            <a:r>
              <a:rPr lang="tr-TR" altLang="en-US" sz="2400" b="1" kern="1200" dirty="0">
                <a:latin typeface="+mn-lt"/>
                <a:ea typeface="SimSun" panose="02010600030101010101" pitchFamily="2" charset="-122"/>
                <a:cs typeface="+mn-cs"/>
              </a:rPr>
              <a:t>Adı haksız olarak kullanılan kişi buna son verilmesini; haksız kullanan kusurlu ise ayrıca maddi zararının giderilmesini ve uğradığı haksızlığın niteliği gerektiriyorsa manevi tazminat ödenmesini isteyebilir</a:t>
            </a:r>
            <a:r>
              <a:rPr lang="tr-TR" altLang="en-US" sz="2400" kern="1200" dirty="0">
                <a:latin typeface="+mn-lt"/>
                <a:ea typeface="SimSun" panose="02010600030101010101" pitchFamily="2" charset="-122"/>
                <a:cs typeface="+mn-cs"/>
              </a:rPr>
              <a:t>.”</a:t>
            </a:r>
            <a:endParaRPr lang="tr-TR" altLang="en-US" sz="2400" kern="1200" dirty="0">
              <a:latin typeface="+mn-lt"/>
              <a:ea typeface="SimSun" panose="02010600030101010101" pitchFamily="2" charset="-122"/>
              <a:cs typeface="+mn-cs"/>
            </a:endParaRPr>
          </a:p>
          <a:p>
            <a:pPr marL="0" indent="0" eaLnBrk="1" hangingPunct="1">
              <a:buFont typeface="Arial" panose="020B0604020202020204" pitchFamily="34" charset="0"/>
              <a:buNone/>
            </a:pPr>
            <a:r>
              <a:rPr lang="en-US" altLang="tr-TR" sz="2400" kern="1200" dirty="0">
                <a:latin typeface="+mn-lt"/>
                <a:ea typeface="SimSun" panose="02010600030101010101" pitchFamily="2" charset="-122"/>
                <a:cs typeface="+mn-cs"/>
              </a:rPr>
              <a:t>Adwords reklamlar</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nda as</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 hukuki sorun, bir firman</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rakibinin tescilli markas</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anahtar kelime (keyword) olarak sat</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 almas</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durumunda ortaya </a:t>
            </a:r>
            <a:r>
              <a:rPr lang="en-US" altLang="en-US" sz="2400" kern="1200" dirty="0">
                <a:latin typeface="+mn-lt"/>
                <a:ea typeface="SimSun" panose="02010600030101010101" pitchFamily="2" charset="-122"/>
                <a:cs typeface="+mn-cs"/>
              </a:rPr>
              <a:t>çı</a:t>
            </a:r>
            <a:r>
              <a:rPr lang="en-US" altLang="tr-TR" sz="2400" kern="1200" dirty="0">
                <a:latin typeface="+mn-lt"/>
                <a:ea typeface="SimSun" panose="02010600030101010101" pitchFamily="2" charset="-122"/>
                <a:cs typeface="+mn-cs"/>
              </a:rPr>
              <a:t>kar. Yarg</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tay kararlar</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 g</a:t>
            </a:r>
            <a:r>
              <a:rPr lang="en-US" altLang="en-US" sz="2400" kern="1200" dirty="0">
                <a:latin typeface="+mn-lt"/>
                <a:ea typeface="SimSun" panose="02010600030101010101" pitchFamily="2" charset="-122"/>
                <a:cs typeface="+mn-cs"/>
              </a:rPr>
              <a:t>ö</a:t>
            </a:r>
            <a:r>
              <a:rPr lang="en-US" altLang="tr-TR" sz="2400" kern="1200" dirty="0">
                <a:latin typeface="+mn-lt"/>
                <a:ea typeface="SimSun" panose="02010600030101010101" pitchFamily="2" charset="-122"/>
                <a:cs typeface="+mn-cs"/>
              </a:rPr>
              <a:t>re; bu yolla, rakip markay</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arayan m</a:t>
            </a:r>
            <a:r>
              <a:rPr lang="en-US" altLang="en-US" sz="2400" kern="1200" dirty="0">
                <a:latin typeface="+mn-lt"/>
                <a:ea typeface="SimSun" panose="02010600030101010101" pitchFamily="2" charset="-122"/>
                <a:cs typeface="+mn-cs"/>
              </a:rPr>
              <a:t>ü</a:t>
            </a:r>
            <a:r>
              <a:rPr lang="en-US"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terinin yan</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lt</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larak farkl</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 bir siteye </a:t>
            </a:r>
            <a:r>
              <a:rPr lang="en-US" altLang="en-US" sz="2400" kern="1200" dirty="0">
                <a:latin typeface="+mn-lt"/>
                <a:ea typeface="SimSun" panose="02010600030101010101" pitchFamily="2" charset="-122"/>
                <a:cs typeface="+mn-cs"/>
              </a:rPr>
              <a:t>ç</a:t>
            </a:r>
            <a:r>
              <a:rPr lang="en-US" altLang="tr-TR" sz="2400" kern="1200" dirty="0">
                <a:latin typeface="+mn-lt"/>
                <a:ea typeface="SimSun" panose="02010600030101010101" pitchFamily="2" charset="-122"/>
                <a:cs typeface="+mn-cs"/>
              </a:rPr>
              <a:t>ekilmesi hem marka hakk</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na tecav</a:t>
            </a:r>
            <a:r>
              <a:rPr lang="en-US" altLang="en-US" sz="2400" kern="1200" dirty="0">
                <a:latin typeface="+mn-lt"/>
                <a:ea typeface="SimSun" panose="02010600030101010101" pitchFamily="2" charset="-122"/>
                <a:cs typeface="+mn-cs"/>
              </a:rPr>
              <a:t>ü</a:t>
            </a:r>
            <a:r>
              <a:rPr lang="en-US" altLang="tr-TR" sz="2400" kern="1200" dirty="0">
                <a:latin typeface="+mn-lt"/>
                <a:ea typeface="SimSun" panose="02010600030101010101" pitchFamily="2" charset="-122"/>
                <a:cs typeface="+mn-cs"/>
              </a:rPr>
              <a:t>z hem de haks</a:t>
            </a:r>
            <a:r>
              <a:rPr lang="en-US" altLang="en-US" sz="2400" kern="1200" dirty="0">
                <a:latin typeface="+mn-lt"/>
                <a:ea typeface="SimSun" panose="02010600030101010101" pitchFamily="2" charset="-122"/>
                <a:cs typeface="+mn-cs"/>
              </a:rPr>
              <a:t>ı</a:t>
            </a:r>
            <a:r>
              <a:rPr lang="en-US" altLang="tr-TR" sz="2400" kern="1200" dirty="0">
                <a:latin typeface="+mn-lt"/>
                <a:ea typeface="SimSun" panose="02010600030101010101" pitchFamily="2" charset="-122"/>
                <a:cs typeface="+mn-cs"/>
              </a:rPr>
              <a:t>z rekabet te</a:t>
            </a:r>
            <a:r>
              <a:rPr lang="en-US" altLang="en-US" sz="2400" kern="1200" dirty="0">
                <a:latin typeface="+mn-lt"/>
                <a:ea typeface="SimSun" panose="02010600030101010101" pitchFamily="2" charset="-122"/>
                <a:cs typeface="+mn-cs"/>
              </a:rPr>
              <a:t>ş</a:t>
            </a:r>
            <a:r>
              <a:rPr lang="en-US" altLang="tr-TR" sz="2400" kern="1200" dirty="0">
                <a:latin typeface="+mn-lt"/>
                <a:ea typeface="SimSun" panose="02010600030101010101" pitchFamily="2" charset="-122"/>
                <a:cs typeface="+mn-cs"/>
              </a:rPr>
              <a:t>kil etmektedir.</a:t>
            </a:r>
            <a:endParaRPr lang="en-US" altLang="tr-TR" sz="2400" kern="1200" dirty="0">
              <a:latin typeface="+mn-lt"/>
              <a:ea typeface="SimSun" panose="02010600030101010101" pitchFamily="2" charset="-122"/>
              <a:cs typeface="+mn-cs"/>
            </a:endParaRPr>
          </a:p>
          <a:p>
            <a:pPr marL="0" indent="0" eaLnBrk="1" hangingPunct="1">
              <a:buFont typeface="Arial" panose="020B0604020202020204" pitchFamily="34" charset="0"/>
              <a:buNone/>
            </a:pPr>
            <a:endParaRPr lang="tr-TR" altLang="en-US" sz="2400" kern="1200" dirty="0">
              <a:latin typeface="+mn-lt"/>
              <a:ea typeface="SimSun" panose="02010600030101010101" pitchFamily="2" charset="-122"/>
              <a:cs typeface="+mn-cs"/>
            </a:endParaRPr>
          </a:p>
        </p:txBody>
      </p:sp>
    </p:spTree>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11865</Words>
  <Application>WPS Sunum</Application>
  <PresentationFormat/>
  <Paragraphs>227</Paragraphs>
  <Slides>26</Slides>
  <Notes>35</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26</vt:i4>
      </vt:variant>
    </vt:vector>
  </HeadingPairs>
  <TitlesOfParts>
    <vt:vector size="37" baseType="lpstr">
      <vt:lpstr>Arial</vt:lpstr>
      <vt:lpstr>SimSun</vt:lpstr>
      <vt:lpstr>Wingdings</vt:lpstr>
      <vt:lpstr>Calibri</vt:lpstr>
      <vt:lpstr>Calibri Light</vt:lpstr>
      <vt:lpstr>Microsoft YaHei</vt:lpstr>
      <vt:lpstr>Arial Unicode MS</vt:lpstr>
      <vt:lpstr>Office 主题</vt:lpstr>
      <vt:lpstr>1_Office 主题</vt:lpstr>
      <vt:lpstr>2_Office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Zafer</cp:lastModifiedBy>
  <cp:revision>12</cp:revision>
  <dcterms:created xsi:type="dcterms:W3CDTF">2015-06-19T05:01:00Z</dcterms:created>
  <dcterms:modified xsi:type="dcterms:W3CDTF">2025-11-13T10:04:46Z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1055-12.2.0.22549</vt:lpwstr>
  </property>
  <property fmtid="{D5CDD505-2E9C-101B-9397-08002B2CF9AE}" pid="3" name="ICV">
    <vt:lpwstr>7D5F1E10525E4479A2D2B9708B5A3C6D_12</vt:lpwstr>
  </property>
</Properties>
</file>